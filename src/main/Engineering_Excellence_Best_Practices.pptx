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2113824" y="2405128"/>
            <a:ext cx="4343400" cy="276820"/>
          </a:xfrm>
          <a:prstGeom prst="rect">
            <a:avLst/>
          </a:prstGeom>
          <a:noFill/>
          <a:ln/>
        </p:spPr>
        <p:txBody>
          <a:bodyPr wrap="none" lIns="0" tIns="0" rIns="0" bIns="0" rtlCol="0" anchor="t">
            <a:spAutoFit/>
          </a:bodyPr>
          <a:lstStyle/>
          <a:p>
            <a:pPr algn="ctr" indent="0" marL="0">
              <a:lnSpc>
                <a:spcPct val="88000"/>
              </a:lnSpc>
              <a:buNone/>
            </a:pPr>
            <a:r>
              <a:rPr lang="en-US" sz="1600" b="1" dirty="0">
                <a:solidFill>
                  <a:srgbClr val="0F172A"/>
                </a:solidFill>
                <a:latin typeface="Inter Bold" pitchFamily="34" charset="0"/>
                <a:ea typeface="Inter Bold" pitchFamily="34" charset="-122"/>
                <a:cs typeface="Inter Bold" pitchFamily="34" charset="-120"/>
              </a:rPr>
              <a:t>Engineering Excellence: Best Practices</a:t>
            </a:r>
            <a:endParaRPr lang="en-US" sz="1600" dirty="0"/>
          </a:p>
        </p:txBody>
      </p:sp>
      <p:sp>
        <p:nvSpPr>
          <p:cNvPr id="4" name="Text 1"/>
          <p:cNvSpPr/>
          <p:nvPr/>
        </p:nvSpPr>
        <p:spPr>
          <a:xfrm>
            <a:off x="1714500" y="2884819"/>
            <a:ext cx="5715000" cy="276820"/>
          </a:xfrm>
          <a:prstGeom prst="rect">
            <a:avLst/>
          </a:prstGeom>
          <a:noFill/>
          <a:ln/>
        </p:spPr>
        <p:txBody>
          <a:bodyPr wrap="square" lIns="0" tIns="0" rIns="0" bIns="0" rtlCol="0" anchor="t">
            <a:spAutoFit/>
          </a:bodyPr>
          <a:lstStyle/>
          <a:p>
            <a:pPr algn="ctr" indent="0" marL="0">
              <a:buNone/>
            </a:pPr>
            <a:r>
              <a:rPr lang="en-US" sz="1250" dirty="0">
                <a:solidFill>
                  <a:srgbClr val="2563EB"/>
                </a:solidFill>
                <a:latin typeface="Inter" pitchFamily="34" charset="0"/>
                <a:ea typeface="Inter" pitchFamily="34" charset="-122"/>
                <a:cs typeface="Inter" pitchFamily="34" charset="-120"/>
              </a:rPr>
              <a:t>Samir Kumar SAHOO</a:t>
            </a:r>
            <a:r>
              <a:rPr lang="en-US" sz="1700" dirty="0">
                <a:solidFill>
                  <a:srgbClr val="2563EB"/>
                </a:solidFill>
                <a:latin typeface="Inter" pitchFamily="34" charset="0"/>
                <a:ea typeface="Inter" pitchFamily="34" charset="-122"/>
                <a:cs typeface="Inter" pitchFamily="34" charset="-120"/>
              </a:rPr>
              <a:t>, </a:t>
            </a:r>
            <a:r>
              <a:rPr lang="en-US" sz="850" dirty="0">
                <a:solidFill>
                  <a:srgbClr val="2563EB"/>
                </a:solidFill>
                <a:latin typeface="Inter" pitchFamily="34" charset="0"/>
                <a:ea typeface="Inter" pitchFamily="34" charset="-122"/>
                <a:cs typeface="Inter" pitchFamily="34" charset="-120"/>
              </a:rPr>
              <a:t>Technical Architect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05445"/>
          </a:xfrm>
          <a:prstGeom prst="rect">
            <a:avLst/>
          </a:prstGeom>
          <a:solidFill>
            <a:srgbClr val="0F172A"/>
          </a:solidFill>
          <a:ln/>
        </p:spPr>
      </p:sp>
      <p:sp>
        <p:nvSpPr>
          <p:cNvPr id="4" name="Text 1"/>
          <p:cNvSpPr/>
          <p:nvPr/>
        </p:nvSpPr>
        <p:spPr>
          <a:xfrm>
            <a:off x="428625" y="285750"/>
            <a:ext cx="8715375" cy="276820"/>
          </a:xfrm>
          <a:prstGeom prst="rect">
            <a:avLst/>
          </a:prstGeom>
          <a:noFill/>
          <a:ln/>
        </p:spPr>
        <p:txBody>
          <a:bodyPr wrap="square" lIns="0" tIns="0" rIns="0" bIns="0" rtlCol="0" anchor="t">
            <a:spAutoFit/>
          </a:bodyPr>
          <a:lstStyle/>
          <a:p>
            <a:pPr algn="l" indent="0" marL="0">
              <a:buNone/>
            </a:pPr>
            <a:r>
              <a:rPr lang="en-US" sz="1600" b="1" dirty="0">
                <a:solidFill>
                  <a:srgbClr val="F8FAFC"/>
                </a:solidFill>
                <a:latin typeface="Inter Bold" pitchFamily="34" charset="0"/>
                <a:ea typeface="Inter Bold" pitchFamily="34" charset="-122"/>
                <a:cs typeface="Inter Bold" pitchFamily="34" charset="-120"/>
              </a:rPr>
              <a:t>The Modern IT Landscape: The Efficiency Mandate</a:t>
            </a:r>
            <a:endParaRPr lang="en-US" sz="1600" dirty="0"/>
          </a:p>
        </p:txBody>
      </p:sp>
      <p:sp>
        <p:nvSpPr>
          <p:cNvPr id="5" name="Text 2"/>
          <p:cNvSpPr/>
          <p:nvPr/>
        </p:nvSpPr>
        <p:spPr>
          <a:xfrm>
            <a:off x="428625" y="1134070"/>
            <a:ext cx="4000500" cy="1028588"/>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334155"/>
                </a:solidFill>
                <a:latin typeface="Inter" pitchFamily="34" charset="0"/>
                <a:ea typeface="Inter" pitchFamily="34" charset="-122"/>
                <a:cs typeface="Inter" pitchFamily="34" charset="-120"/>
              </a:rPr>
              <a:t>Over the past 25 years, the technology landscape has undergone </a:t>
            </a:r>
            <a:r>
              <a:rPr lang="en-US" sz="950" dirty="0">
                <a:solidFill>
                  <a:srgbClr val="334155"/>
                </a:solidFill>
                <a:latin typeface="Inter" pitchFamily="34" charset="0"/>
                <a:ea typeface="Inter" pitchFamily="34" charset="-122"/>
                <a:cs typeface="Inter" pitchFamily="34" charset="-120"/>
              </a:rPr>
              <a:t>a profound transformation, from monolithic architectures to agile, </a:t>
            </a:r>
            <a:r>
              <a:rPr lang="en-US" sz="950" dirty="0">
                <a:solidFill>
                  <a:srgbClr val="334155"/>
                </a:solidFill>
                <a:latin typeface="Inter" pitchFamily="34" charset="0"/>
                <a:ea typeface="Inter" pitchFamily="34" charset="-122"/>
                <a:cs typeface="Inter" pitchFamily="34" charset="-120"/>
              </a:rPr>
              <a:t>cloud-native ecosystems. Despite these advancements, the core </a:t>
            </a:r>
            <a:r>
              <a:rPr lang="en-US" sz="950" dirty="0">
                <a:solidFill>
                  <a:srgbClr val="334155"/>
                </a:solidFill>
                <a:latin typeface="Inter" pitchFamily="34" charset="0"/>
                <a:ea typeface="Inter" pitchFamily="34" charset="-122"/>
                <a:cs typeface="Inter" pitchFamily="34" charset="-120"/>
              </a:rPr>
              <a:t>challenge of balancing </a:t>
            </a:r>
            <a:r>
              <a:rPr lang="en-US" sz="900" b="1" dirty="0">
                <a:solidFill>
                  <a:srgbClr val="2563EB"/>
                </a:solidFill>
                <a:latin typeface="Inter Bold" pitchFamily="34" charset="0"/>
                <a:ea typeface="Inter Bold" pitchFamily="34" charset="-122"/>
                <a:cs typeface="Inter Bold" pitchFamily="34" charset="-120"/>
              </a:rPr>
              <a:t>time-to-market with uncompromised </a:t>
            </a:r>
            <a:r>
              <a:rPr lang="en-US" sz="900" b="1" dirty="0">
                <a:solidFill>
                  <a:srgbClr val="2563EB"/>
                </a:solidFill>
                <a:latin typeface="Inter Bold" pitchFamily="34" charset="0"/>
                <a:ea typeface="Inter Bold" pitchFamily="34" charset="-122"/>
                <a:cs typeface="Inter Bold" pitchFamily="34" charset="-120"/>
              </a:rPr>
              <a:t>quality</a:t>
            </a:r>
            <a:r>
              <a:rPr lang="en-US" sz="950" dirty="0">
                <a:solidFill>
                  <a:srgbClr val="334155"/>
                </a:solidFill>
                <a:latin typeface="Inter" pitchFamily="34" charset="0"/>
                <a:ea typeface="Inter" pitchFamily="34" charset="-122"/>
                <a:cs typeface="Inter" pitchFamily="34" charset="-120"/>
              </a:rPr>
              <a:t> persists.</a:t>
            </a:r>
            <a:endParaRPr lang="en-US" sz="950" dirty="0"/>
          </a:p>
        </p:txBody>
      </p:sp>
      <p:sp>
        <p:nvSpPr>
          <p:cNvPr id="6" name="Text 3"/>
          <p:cNvSpPr/>
          <p:nvPr/>
        </p:nvSpPr>
        <p:spPr>
          <a:xfrm>
            <a:off x="428625" y="2162659"/>
            <a:ext cx="4000500" cy="1171463"/>
          </a:xfrm>
          <a:prstGeom prst="rect">
            <a:avLst/>
          </a:prstGeom>
          <a:noFill/>
          <a:ln/>
        </p:spPr>
        <p:txBody>
          <a:bodyPr wrap="square" lIns="0" tIns="170053" rIns="0" bIns="0" rtlCol="0" anchor="t">
            <a:spAutoFit/>
          </a:bodyPr>
          <a:lstStyle/>
          <a:p>
            <a:pPr algn="l" indent="0" marL="0">
              <a:lnSpc>
                <a:spcPct val="128000"/>
              </a:lnSpc>
              <a:buNone/>
            </a:pPr>
            <a:r>
              <a:rPr lang="en-US" sz="950" dirty="0">
                <a:solidFill>
                  <a:srgbClr val="334155"/>
                </a:solidFill>
                <a:latin typeface="Inter" pitchFamily="34" charset="0"/>
                <a:ea typeface="Inter" pitchFamily="34" charset="-122"/>
                <a:cs typeface="Inter" pitchFamily="34" charset="-120"/>
              </a:rPr>
              <a:t>This session emphasizes that true efficiency transcends mere </a:t>
            </a:r>
            <a:r>
              <a:rPr lang="en-US" sz="950" dirty="0">
                <a:solidFill>
                  <a:srgbClr val="334155"/>
                </a:solidFill>
                <a:latin typeface="Inter" pitchFamily="34" charset="0"/>
                <a:ea typeface="Inter" pitchFamily="34" charset="-122"/>
                <a:cs typeface="Inter" pitchFamily="34" charset="-120"/>
              </a:rPr>
              <a:t>speed; it is fundamentally about the </a:t>
            </a:r>
            <a:r>
              <a:rPr lang="en-US" sz="900" b="1" dirty="0">
                <a:solidFill>
                  <a:srgbClr val="2563EB"/>
                </a:solidFill>
                <a:latin typeface="Inter Bold" pitchFamily="34" charset="0"/>
                <a:ea typeface="Inter Bold" pitchFamily="34" charset="-122"/>
                <a:cs typeface="Inter Bold" pitchFamily="34" charset="-120"/>
              </a:rPr>
              <a:t>elimination of waste</a:t>
            </a:r>
            <a:r>
              <a:rPr lang="en-US" sz="950" dirty="0">
                <a:solidFill>
                  <a:srgbClr val="334155"/>
                </a:solidFill>
                <a:latin typeface="Inter" pitchFamily="34" charset="0"/>
                <a:ea typeface="Inter" pitchFamily="34" charset="-122"/>
                <a:cs typeface="Inter" pitchFamily="34" charset="-120"/>
              </a:rPr>
              <a:t> and the </a:t>
            </a:r>
            <a:r>
              <a:rPr lang="en-US" sz="950" dirty="0">
                <a:solidFill>
                  <a:srgbClr val="334155"/>
                </a:solidFill>
                <a:latin typeface="Inter" pitchFamily="34" charset="0"/>
                <a:ea typeface="Inter" pitchFamily="34" charset="-122"/>
                <a:cs typeface="Inter" pitchFamily="34" charset="-120"/>
              </a:rPr>
              <a:t>optimization of value delivery. Effectiveness ensures that our </a:t>
            </a:r>
            <a:r>
              <a:rPr lang="en-US" sz="950" dirty="0">
                <a:solidFill>
                  <a:srgbClr val="334155"/>
                </a:solidFill>
                <a:latin typeface="Inter" pitchFamily="34" charset="0"/>
                <a:ea typeface="Inter" pitchFamily="34" charset="-122"/>
                <a:cs typeface="Inter" pitchFamily="34" charset="-120"/>
              </a:rPr>
              <a:t>efforts are directed towards building the right product for the </a:t>
            </a:r>
            <a:r>
              <a:rPr lang="en-US" sz="950" dirty="0">
                <a:solidFill>
                  <a:srgbClr val="334155"/>
                </a:solidFill>
                <a:latin typeface="Inter" pitchFamily="34" charset="0"/>
                <a:ea typeface="Inter" pitchFamily="34" charset="-122"/>
                <a:cs typeface="Inter" pitchFamily="34" charset="-120"/>
              </a:rPr>
              <a:t>right audience.</a:t>
            </a:r>
            <a:endParaRPr lang="en-US" sz="950" dirty="0"/>
          </a:p>
        </p:txBody>
      </p:sp>
      <p:sp>
        <p:nvSpPr>
          <p:cNvPr id="7" name="Shape 4"/>
          <p:cNvSpPr/>
          <p:nvPr/>
        </p:nvSpPr>
        <p:spPr>
          <a:xfrm>
            <a:off x="4714875" y="1134070"/>
            <a:ext cx="4000500" cy="2200052"/>
          </a:xfrm>
          <a:prstGeom prst="rect">
            <a:avLst/>
          </a:prstGeom>
          <a:solidFill>
            <a:srgbClr val="FFFFFF"/>
          </a:solidFill>
          <a:ln w="9144">
            <a:solidFill>
              <a:srgbClr val="E2E8F0"/>
            </a:solidFill>
            <a:prstDash val="solid"/>
          </a:ln>
        </p:spPr>
      </p:sp>
      <p:sp>
        <p:nvSpPr>
          <p:cNvPr id="8" name="Shape 5"/>
          <p:cNvSpPr/>
          <p:nvPr/>
        </p:nvSpPr>
        <p:spPr>
          <a:xfrm>
            <a:off x="4714875" y="1134070"/>
            <a:ext cx="1015891" cy="308967"/>
          </a:xfrm>
          <a:prstGeom prst="rect">
            <a:avLst/>
          </a:prstGeom>
          <a:solidFill>
            <a:srgbClr val="0F172A"/>
          </a:solidFill>
          <a:ln/>
        </p:spPr>
      </p:sp>
      <p:sp>
        <p:nvSpPr>
          <p:cNvPr id="9" name="Text 6"/>
          <p:cNvSpPr/>
          <p:nvPr/>
        </p:nvSpPr>
        <p:spPr>
          <a:xfrm>
            <a:off x="4714875" y="1134070"/>
            <a:ext cx="1015891" cy="308967"/>
          </a:xfrm>
          <a:prstGeom prst="rect">
            <a:avLst/>
          </a:prstGeom>
          <a:noFill/>
          <a:ln/>
        </p:spPr>
        <p:txBody>
          <a:bodyPr wrap="none" lIns="102108" tIns="102108" rIns="102108" bIns="102108" rtlCol="0" anchor="ctr">
            <a:spAutoFit/>
          </a:bodyPr>
          <a:lstStyle/>
          <a:p>
            <a:pPr algn="l" indent="0" marL="0">
              <a:buNone/>
            </a:pPr>
            <a:r>
              <a:rPr lang="en-US" sz="800" b="1" dirty="0">
                <a:solidFill>
                  <a:srgbClr val="F8FAFC"/>
                </a:solidFill>
                <a:latin typeface="Inter Bold" pitchFamily="34" charset="0"/>
                <a:ea typeface="Inter Bold" pitchFamily="34" charset="-122"/>
                <a:cs typeface="Inter Bold" pitchFamily="34" charset="-120"/>
              </a:rPr>
              <a:t>Concept</a:t>
            </a:r>
            <a:endParaRPr lang="en-US" sz="800" dirty="0"/>
          </a:p>
        </p:txBody>
      </p:sp>
      <p:sp>
        <p:nvSpPr>
          <p:cNvPr id="10" name="Shape 7"/>
          <p:cNvSpPr/>
          <p:nvPr/>
        </p:nvSpPr>
        <p:spPr>
          <a:xfrm>
            <a:off x="5730766" y="1134070"/>
            <a:ext cx="1631454" cy="308967"/>
          </a:xfrm>
          <a:prstGeom prst="rect">
            <a:avLst/>
          </a:prstGeom>
          <a:solidFill>
            <a:srgbClr val="0F172A"/>
          </a:solidFill>
          <a:ln/>
        </p:spPr>
      </p:sp>
      <p:sp>
        <p:nvSpPr>
          <p:cNvPr id="11" name="Text 8"/>
          <p:cNvSpPr/>
          <p:nvPr/>
        </p:nvSpPr>
        <p:spPr>
          <a:xfrm>
            <a:off x="5730766" y="1134070"/>
            <a:ext cx="1631454" cy="308967"/>
          </a:xfrm>
          <a:prstGeom prst="rect">
            <a:avLst/>
          </a:prstGeom>
          <a:noFill/>
          <a:ln/>
        </p:spPr>
        <p:txBody>
          <a:bodyPr wrap="square" lIns="102108" tIns="102108" rIns="102108" bIns="102108" rtlCol="0" anchor="ctr">
            <a:spAutoFit/>
          </a:bodyPr>
          <a:lstStyle/>
          <a:p>
            <a:pPr algn="l" indent="0" marL="0">
              <a:buNone/>
            </a:pPr>
            <a:r>
              <a:rPr lang="en-US" sz="800" b="1" dirty="0">
                <a:solidFill>
                  <a:srgbClr val="F8FAFC"/>
                </a:solidFill>
                <a:latin typeface="Inter Bold" pitchFamily="34" charset="0"/>
                <a:ea typeface="Inter Bold" pitchFamily="34" charset="-122"/>
                <a:cs typeface="Inter Bold" pitchFamily="34" charset="-120"/>
              </a:rPr>
              <a:t>Definition</a:t>
            </a:r>
            <a:endParaRPr lang="en-US" sz="800" dirty="0"/>
          </a:p>
        </p:txBody>
      </p:sp>
      <p:sp>
        <p:nvSpPr>
          <p:cNvPr id="12" name="Shape 9"/>
          <p:cNvSpPr/>
          <p:nvPr/>
        </p:nvSpPr>
        <p:spPr>
          <a:xfrm>
            <a:off x="7362220" y="1134070"/>
            <a:ext cx="1353155" cy="308967"/>
          </a:xfrm>
          <a:prstGeom prst="rect">
            <a:avLst/>
          </a:prstGeom>
          <a:solidFill>
            <a:srgbClr val="0F172A"/>
          </a:solidFill>
          <a:ln/>
        </p:spPr>
      </p:sp>
      <p:sp>
        <p:nvSpPr>
          <p:cNvPr id="13" name="Text 10"/>
          <p:cNvSpPr/>
          <p:nvPr/>
        </p:nvSpPr>
        <p:spPr>
          <a:xfrm>
            <a:off x="7362220" y="1134070"/>
            <a:ext cx="1353155" cy="308967"/>
          </a:xfrm>
          <a:prstGeom prst="rect">
            <a:avLst/>
          </a:prstGeom>
          <a:noFill/>
          <a:ln/>
        </p:spPr>
        <p:txBody>
          <a:bodyPr wrap="square" lIns="102108" tIns="102108" rIns="102108" bIns="102108" rtlCol="0" anchor="ctr">
            <a:spAutoFit/>
          </a:bodyPr>
          <a:lstStyle/>
          <a:p>
            <a:pPr algn="l" indent="0" marL="0">
              <a:buNone/>
            </a:pPr>
            <a:r>
              <a:rPr lang="en-US" sz="800" b="1" dirty="0">
                <a:solidFill>
                  <a:srgbClr val="F8FAFC"/>
                </a:solidFill>
                <a:latin typeface="Inter Bold" pitchFamily="34" charset="0"/>
                <a:ea typeface="Inter Bold" pitchFamily="34" charset="-122"/>
                <a:cs typeface="Inter Bold" pitchFamily="34" charset="-120"/>
              </a:rPr>
              <a:t>Primary Focus</a:t>
            </a:r>
            <a:endParaRPr lang="en-US" sz="800" dirty="0"/>
          </a:p>
        </p:txBody>
      </p:sp>
      <p:sp>
        <p:nvSpPr>
          <p:cNvPr id="14" name="Text 11"/>
          <p:cNvSpPr/>
          <p:nvPr/>
        </p:nvSpPr>
        <p:spPr>
          <a:xfrm>
            <a:off x="4800600" y="1597521"/>
            <a:ext cx="558998" cy="137517"/>
          </a:xfrm>
          <a:prstGeom prst="rect">
            <a:avLst/>
          </a:prstGeom>
          <a:noFill/>
          <a:ln/>
        </p:spPr>
        <p:txBody>
          <a:bodyPr wrap="none" lIns="0" tIns="0" rIns="0" bIns="0" rtlCol="0" anchor="t">
            <a:spAutoFit/>
          </a:bodyPr>
          <a:lstStyle/>
          <a:p>
            <a:pPr algn="l" indent="0" marL="0">
              <a:buNone/>
            </a:pPr>
            <a:r>
              <a:rPr lang="en-US" sz="800" b="1" dirty="0">
                <a:solidFill>
                  <a:srgbClr val="334155"/>
                </a:solidFill>
                <a:latin typeface="Inter Bold" pitchFamily="34" charset="0"/>
                <a:ea typeface="Inter Bold" pitchFamily="34" charset="-122"/>
                <a:cs typeface="Inter Bold" pitchFamily="34" charset="-120"/>
              </a:rPr>
              <a:t>Efficiency</a:t>
            </a:r>
            <a:endParaRPr lang="en-US" sz="800" dirty="0"/>
          </a:p>
        </p:txBody>
      </p:sp>
      <p:sp>
        <p:nvSpPr>
          <p:cNvPr id="15" name="Text 12"/>
          <p:cNvSpPr/>
          <p:nvPr/>
        </p:nvSpPr>
        <p:spPr>
          <a:xfrm>
            <a:off x="5730766" y="1443038"/>
            <a:ext cx="1631454" cy="450056"/>
          </a:xfrm>
          <a:prstGeom prst="rect">
            <a:avLst/>
          </a:prstGeom>
          <a:noFill/>
          <a:ln/>
        </p:spPr>
        <p:txBody>
          <a:bodyPr wrap="square" lIns="102108" tIns="102108" rIns="102108" bIns="102108" rtlCol="0" anchor="ctr">
            <a:spAutoFit/>
          </a:bodyPr>
          <a:lstStyle/>
          <a:p>
            <a:pPr algn="l" indent="0" marL="0">
              <a:buNone/>
            </a:pPr>
            <a:r>
              <a:rPr lang="en-US" sz="850" dirty="0">
                <a:solidFill>
                  <a:srgbClr val="334155"/>
                </a:solidFill>
                <a:latin typeface="Inter" pitchFamily="34" charset="0"/>
                <a:ea typeface="Inter" pitchFamily="34" charset="-122"/>
                <a:cs typeface="Inter" pitchFamily="34" charset="-120"/>
              </a:rPr>
              <a:t>Performing tasks with minimal waste.</a:t>
            </a:r>
            <a:endParaRPr lang="en-US" sz="850" dirty="0"/>
          </a:p>
        </p:txBody>
      </p:sp>
      <p:sp>
        <p:nvSpPr>
          <p:cNvPr id="16" name="Text 13"/>
          <p:cNvSpPr/>
          <p:nvPr/>
        </p:nvSpPr>
        <p:spPr>
          <a:xfrm>
            <a:off x="7362220" y="1443038"/>
            <a:ext cx="1353155" cy="450056"/>
          </a:xfrm>
          <a:prstGeom prst="rect">
            <a:avLst/>
          </a:prstGeom>
          <a:noFill/>
          <a:ln/>
        </p:spPr>
        <p:txBody>
          <a:bodyPr wrap="square" lIns="102108" tIns="102108" rIns="102108" bIns="102108" rtlCol="0" anchor="ctr">
            <a:spAutoFit/>
          </a:bodyPr>
          <a:lstStyle/>
          <a:p>
            <a:pPr algn="l" indent="0" marL="0">
              <a:buNone/>
            </a:pPr>
            <a:r>
              <a:rPr lang="en-US" sz="850" dirty="0">
                <a:solidFill>
                  <a:srgbClr val="334155"/>
                </a:solidFill>
                <a:latin typeface="Inter" pitchFamily="34" charset="0"/>
                <a:ea typeface="Inter" pitchFamily="34" charset="-122"/>
                <a:cs typeface="Inter" pitchFamily="34" charset="-120"/>
              </a:rPr>
              <a:t>Process, Automation, Speed</a:t>
            </a:r>
            <a:endParaRPr lang="en-US" sz="850" dirty="0"/>
          </a:p>
        </p:txBody>
      </p:sp>
      <p:sp>
        <p:nvSpPr>
          <p:cNvPr id="17" name="Text 14"/>
          <p:cNvSpPr/>
          <p:nvPr/>
        </p:nvSpPr>
        <p:spPr>
          <a:xfrm>
            <a:off x="4800600" y="2051149"/>
            <a:ext cx="760809" cy="137517"/>
          </a:xfrm>
          <a:prstGeom prst="rect">
            <a:avLst/>
          </a:prstGeom>
          <a:noFill/>
          <a:ln/>
        </p:spPr>
        <p:txBody>
          <a:bodyPr wrap="none" lIns="0" tIns="0" rIns="0" bIns="0" rtlCol="0" anchor="t">
            <a:spAutoFit/>
          </a:bodyPr>
          <a:lstStyle/>
          <a:p>
            <a:pPr algn="l" indent="0" marL="0">
              <a:buNone/>
            </a:pPr>
            <a:r>
              <a:rPr lang="en-US" sz="800" b="1" dirty="0">
                <a:solidFill>
                  <a:srgbClr val="334155"/>
                </a:solidFill>
                <a:latin typeface="Inter Bold" pitchFamily="34" charset="0"/>
                <a:ea typeface="Inter Bold" pitchFamily="34" charset="-122"/>
                <a:cs typeface="Inter Bold" pitchFamily="34" charset="-120"/>
              </a:rPr>
              <a:t>Effectiveness</a:t>
            </a:r>
            <a:endParaRPr lang="en-US" sz="800" dirty="0"/>
          </a:p>
        </p:txBody>
      </p:sp>
      <p:sp>
        <p:nvSpPr>
          <p:cNvPr id="18" name="Text 15"/>
          <p:cNvSpPr/>
          <p:nvPr/>
        </p:nvSpPr>
        <p:spPr>
          <a:xfrm>
            <a:off x="5730766" y="1893094"/>
            <a:ext cx="1631454" cy="453628"/>
          </a:xfrm>
          <a:prstGeom prst="rect">
            <a:avLst/>
          </a:prstGeom>
          <a:noFill/>
          <a:ln/>
        </p:spPr>
        <p:txBody>
          <a:bodyPr wrap="square" lIns="102108" tIns="102108" rIns="102108" bIns="102108" rtlCol="0" anchor="ctr">
            <a:spAutoFit/>
          </a:bodyPr>
          <a:lstStyle/>
          <a:p>
            <a:pPr algn="l" indent="0" marL="0">
              <a:buNone/>
            </a:pPr>
            <a:r>
              <a:rPr lang="en-US" sz="850" dirty="0">
                <a:solidFill>
                  <a:srgbClr val="334155"/>
                </a:solidFill>
                <a:latin typeface="Inter" pitchFamily="34" charset="0"/>
                <a:ea typeface="Inter" pitchFamily="34" charset="-122"/>
                <a:cs typeface="Inter" pitchFamily="34" charset="-120"/>
              </a:rPr>
              <a:t>Achieving desired outcomes.</a:t>
            </a:r>
            <a:endParaRPr lang="en-US" sz="850" dirty="0"/>
          </a:p>
        </p:txBody>
      </p:sp>
      <p:sp>
        <p:nvSpPr>
          <p:cNvPr id="19" name="Text 16"/>
          <p:cNvSpPr/>
          <p:nvPr/>
        </p:nvSpPr>
        <p:spPr>
          <a:xfrm>
            <a:off x="7362220" y="1893094"/>
            <a:ext cx="1353155" cy="453628"/>
          </a:xfrm>
          <a:prstGeom prst="rect">
            <a:avLst/>
          </a:prstGeom>
          <a:noFill/>
          <a:ln/>
        </p:spPr>
        <p:txBody>
          <a:bodyPr wrap="square" lIns="102108" tIns="102108" rIns="102108" bIns="102108" rtlCol="0" anchor="ctr">
            <a:spAutoFit/>
          </a:bodyPr>
          <a:lstStyle/>
          <a:p>
            <a:pPr algn="l" indent="0" marL="0">
              <a:buNone/>
            </a:pPr>
            <a:r>
              <a:rPr lang="en-US" sz="850" dirty="0">
                <a:solidFill>
                  <a:srgbClr val="334155"/>
                </a:solidFill>
                <a:latin typeface="Inter" pitchFamily="34" charset="0"/>
                <a:ea typeface="Inter" pitchFamily="34" charset="-122"/>
                <a:cs typeface="Inter" pitchFamily="34" charset="-120"/>
              </a:rPr>
              <a:t>Value Delivery, Alignment</a:t>
            </a:r>
            <a:endParaRPr lang="en-US" sz="850" dirty="0"/>
          </a:p>
        </p:txBody>
      </p:sp>
      <p:sp>
        <p:nvSpPr>
          <p:cNvPr id="20" name="Text 17"/>
          <p:cNvSpPr/>
          <p:nvPr/>
        </p:nvSpPr>
        <p:spPr>
          <a:xfrm>
            <a:off x="4800600" y="2436019"/>
            <a:ext cx="478631" cy="275034"/>
          </a:xfrm>
          <a:prstGeom prst="rect">
            <a:avLst/>
          </a:prstGeom>
          <a:noFill/>
          <a:ln/>
        </p:spPr>
        <p:txBody>
          <a:bodyPr wrap="none" lIns="0" tIns="0" rIns="0" bIns="0" rtlCol="0" anchor="t">
            <a:spAutoFit/>
          </a:bodyPr>
          <a:lstStyle/>
          <a:p>
            <a:pPr algn="l" indent="0" marL="0">
              <a:buNone/>
            </a:pPr>
            <a:r>
              <a:rPr lang="en-US" sz="800" b="1" dirty="0">
                <a:solidFill>
                  <a:srgbClr val="334155"/>
                </a:solidFill>
                <a:latin typeface="Inter Bold" pitchFamily="34" charset="0"/>
                <a:ea typeface="Inter Bold" pitchFamily="34" charset="-122"/>
                <a:cs typeface="Inter Bold" pitchFamily="34" charset="-120"/>
              </a:rPr>
              <a:t>Project Success</a:t>
            </a:r>
            <a:endParaRPr lang="en-US" sz="800" dirty="0"/>
          </a:p>
        </p:txBody>
      </p:sp>
      <p:sp>
        <p:nvSpPr>
          <p:cNvPr id="21" name="Text 18"/>
          <p:cNvSpPr/>
          <p:nvPr/>
        </p:nvSpPr>
        <p:spPr>
          <a:xfrm>
            <a:off x="5730766" y="2346722"/>
            <a:ext cx="1631454" cy="453628"/>
          </a:xfrm>
          <a:prstGeom prst="rect">
            <a:avLst/>
          </a:prstGeom>
          <a:noFill/>
          <a:ln/>
        </p:spPr>
        <p:txBody>
          <a:bodyPr wrap="square" lIns="102108" tIns="102108" rIns="102108" bIns="102108" rtlCol="0" anchor="ctr">
            <a:spAutoFit/>
          </a:bodyPr>
          <a:lstStyle/>
          <a:p>
            <a:pPr algn="l" indent="0" marL="0">
              <a:buNone/>
            </a:pPr>
            <a:r>
              <a:rPr lang="en-US" sz="850" dirty="0">
                <a:solidFill>
                  <a:srgbClr val="334155"/>
                </a:solidFill>
                <a:latin typeface="Inter" pitchFamily="34" charset="0"/>
                <a:ea typeface="Inter" pitchFamily="34" charset="-122"/>
                <a:cs typeface="Inter" pitchFamily="34" charset="-120"/>
              </a:rPr>
              <a:t>The synergistic outcome of both.</a:t>
            </a:r>
            <a:endParaRPr lang="en-US" sz="850" dirty="0"/>
          </a:p>
        </p:txBody>
      </p:sp>
      <p:sp>
        <p:nvSpPr>
          <p:cNvPr id="22" name="Text 19"/>
          <p:cNvSpPr/>
          <p:nvPr/>
        </p:nvSpPr>
        <p:spPr>
          <a:xfrm>
            <a:off x="7362220" y="2346722"/>
            <a:ext cx="1353155" cy="453628"/>
          </a:xfrm>
          <a:prstGeom prst="rect">
            <a:avLst/>
          </a:prstGeom>
          <a:noFill/>
          <a:ln/>
        </p:spPr>
        <p:txBody>
          <a:bodyPr wrap="square" lIns="102108" tIns="102108" rIns="102108" bIns="102108" rtlCol="0" anchor="ctr">
            <a:spAutoFit/>
          </a:bodyPr>
          <a:lstStyle/>
          <a:p>
            <a:pPr algn="l" indent="0" marL="0">
              <a:buNone/>
            </a:pPr>
            <a:r>
              <a:rPr lang="en-US" sz="850" dirty="0">
                <a:solidFill>
                  <a:srgbClr val="334155"/>
                </a:solidFill>
                <a:latin typeface="Inter" pitchFamily="34" charset="0"/>
                <a:ea typeface="Inter" pitchFamily="34" charset="-122"/>
                <a:cs typeface="Inter" pitchFamily="34" charset="-120"/>
              </a:rPr>
              <a:t>Quality, ROI, Satisfaction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05445"/>
          </a:xfrm>
          <a:prstGeom prst="rect">
            <a:avLst/>
          </a:prstGeom>
          <a:solidFill>
            <a:srgbClr val="0F172A"/>
          </a:solidFill>
          <a:ln/>
        </p:spPr>
      </p:sp>
      <p:sp>
        <p:nvSpPr>
          <p:cNvPr id="4" name="Text 1"/>
          <p:cNvSpPr/>
          <p:nvPr/>
        </p:nvSpPr>
        <p:spPr>
          <a:xfrm>
            <a:off x="428625" y="285750"/>
            <a:ext cx="8715375" cy="276820"/>
          </a:xfrm>
          <a:prstGeom prst="rect">
            <a:avLst/>
          </a:prstGeom>
          <a:noFill/>
          <a:ln/>
        </p:spPr>
        <p:txBody>
          <a:bodyPr wrap="square" lIns="0" tIns="0" rIns="0" bIns="0" rtlCol="0" anchor="t">
            <a:spAutoFit/>
          </a:bodyPr>
          <a:lstStyle/>
          <a:p>
            <a:pPr algn="l" indent="0" marL="0">
              <a:buNone/>
            </a:pPr>
            <a:r>
              <a:rPr lang="en-US" sz="1600" b="1" dirty="0">
                <a:solidFill>
                  <a:srgbClr val="F8FAFC"/>
                </a:solidFill>
                <a:latin typeface="Inter Bold" pitchFamily="34" charset="0"/>
                <a:ea typeface="Inter Bold" pitchFamily="34" charset="-122"/>
                <a:cs typeface="Inter Bold" pitchFamily="34" charset="-120"/>
              </a:rPr>
              <a:t>Unified Vision: The "Three Amigos" Approach</a:t>
            </a:r>
            <a:endParaRPr lang="en-US" sz="1600" dirty="0"/>
          </a:p>
        </p:txBody>
      </p:sp>
      <p:sp>
        <p:nvSpPr>
          <p:cNvPr id="5" name="Text 2"/>
          <p:cNvSpPr/>
          <p:nvPr/>
        </p:nvSpPr>
        <p:spPr>
          <a:xfrm>
            <a:off x="428625" y="1134070"/>
            <a:ext cx="8286750"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334155"/>
                </a:solidFill>
                <a:latin typeface="Inter" pitchFamily="34" charset="0"/>
                <a:ea typeface="Inter" pitchFamily="34" charset="-122"/>
                <a:cs typeface="Inter" pitchFamily="34" charset="-120"/>
              </a:rPr>
              <a:t>Project success is predicated on the collaborative synergy among Business Analysts, Developers, and Quality Assurance professionals. This “Three Amigos” framework ensures that each perspective—business, development, and testing—is integrated from the outset.</a:t>
            </a:r>
            <a:endParaRPr lang="en-US" sz="950" dirty="0"/>
          </a:p>
        </p:txBody>
      </p:sp>
      <p:sp>
        <p:nvSpPr>
          <p:cNvPr id="6" name="Shape 3"/>
          <p:cNvSpPr/>
          <p:nvPr/>
        </p:nvSpPr>
        <p:spPr>
          <a:xfrm>
            <a:off x="428625" y="2117006"/>
            <a:ext cx="2619356" cy="1428750"/>
          </a:xfrm>
          <a:prstGeom prst="rect">
            <a:avLst/>
          </a:prstGeom>
          <a:solidFill>
            <a:srgbClr val="FFFFFF"/>
          </a:solidFill>
          <a:ln w="9144">
            <a:solidFill>
              <a:srgbClr val="E2E8F0"/>
            </a:solidFill>
            <a:prstDash val="solid"/>
          </a:ln>
        </p:spPr>
      </p:sp>
      <p:pic>
        <p:nvPicPr>
          <p:cNvPr id="7" name="Image 1" descr="preencoded.png">    </p:cNvPr>
          <p:cNvPicPr>
            <a:picLocks noChangeAspect="1"/>
          </p:cNvPicPr>
          <p:nvPr/>
        </p:nvPicPr>
        <p:blipFill>
          <a:blip r:embed="rId2"/>
          <a:stretch>
            <a:fillRect/>
          </a:stretch>
        </p:blipFill>
        <p:spPr>
          <a:xfrm>
            <a:off x="1595428" y="2358107"/>
            <a:ext cx="285750" cy="285750"/>
          </a:xfrm>
          <a:prstGeom prst="rect">
            <a:avLst/>
          </a:prstGeom>
        </p:spPr>
      </p:pic>
      <p:sp>
        <p:nvSpPr>
          <p:cNvPr id="8" name="Text 4"/>
          <p:cNvSpPr/>
          <p:nvPr/>
        </p:nvSpPr>
        <p:spPr>
          <a:xfrm>
            <a:off x="428625" y="2784946"/>
            <a:ext cx="2619356" cy="173236"/>
          </a:xfrm>
          <a:prstGeom prst="rect">
            <a:avLst/>
          </a:prstGeom>
          <a:noFill/>
          <a:ln/>
        </p:spPr>
        <p:txBody>
          <a:bodyPr wrap="square" lIns="0" tIns="0" rIns="0" bIns="0" rtlCol="0" anchor="t">
            <a:spAutoFit/>
          </a:bodyPr>
          <a:lstStyle/>
          <a:p>
            <a:pPr algn="ctr" indent="0" marL="0">
              <a:buNone/>
            </a:pPr>
            <a:r>
              <a:rPr lang="en-US" sz="1000" b="1" dirty="0">
                <a:solidFill>
                  <a:srgbClr val="0F172A"/>
                </a:solidFill>
                <a:latin typeface="Inter Bold" pitchFamily="34" charset="0"/>
                <a:ea typeface="Inter Bold" pitchFamily="34" charset="-122"/>
                <a:cs typeface="Inter Bold" pitchFamily="34" charset="-120"/>
              </a:rPr>
              <a:t>Business Analyst</a:t>
            </a:r>
            <a:endParaRPr lang="en-US" sz="1000" dirty="0"/>
          </a:p>
        </p:txBody>
      </p:sp>
      <p:sp>
        <p:nvSpPr>
          <p:cNvPr id="9" name="Text 5"/>
          <p:cNvSpPr/>
          <p:nvPr/>
        </p:nvSpPr>
        <p:spPr>
          <a:xfrm>
            <a:off x="428625" y="2958182"/>
            <a:ext cx="2619356" cy="192881"/>
          </a:xfrm>
          <a:prstGeom prst="rect">
            <a:avLst/>
          </a:prstGeom>
          <a:noFill/>
          <a:ln/>
        </p:spPr>
        <p:txBody>
          <a:bodyPr wrap="square" lIns="0" tIns="85090" rIns="0" bIns="0" rtlCol="0" anchor="t">
            <a:spAutoFit/>
          </a:bodyPr>
          <a:lstStyle/>
          <a:p>
            <a:pPr algn="ctr" indent="0" marL="0">
              <a:buNone/>
            </a:pPr>
            <a:r>
              <a:rPr lang="en-US" sz="750" dirty="0">
                <a:solidFill>
                  <a:srgbClr val="334155"/>
                </a:solidFill>
                <a:latin typeface="Inter" pitchFamily="34" charset="0"/>
                <a:ea typeface="Inter" pitchFamily="34" charset="-122"/>
                <a:cs typeface="Inter" pitchFamily="34" charset="-120"/>
              </a:rPr>
              <a:t>The "What" &amp; "Why"</a:t>
            </a:r>
            <a:endParaRPr lang="en-US" sz="750" dirty="0"/>
          </a:p>
        </p:txBody>
      </p:sp>
      <p:sp>
        <p:nvSpPr>
          <p:cNvPr id="10" name="Shape 6"/>
          <p:cNvSpPr/>
          <p:nvPr/>
        </p:nvSpPr>
        <p:spPr>
          <a:xfrm>
            <a:off x="3262294" y="2117006"/>
            <a:ext cx="2619384" cy="1428750"/>
          </a:xfrm>
          <a:prstGeom prst="rect">
            <a:avLst/>
          </a:prstGeom>
          <a:solidFill>
            <a:srgbClr val="FFFFFF"/>
          </a:solidFill>
          <a:ln w="9144">
            <a:solidFill>
              <a:srgbClr val="E2E8F0"/>
            </a:solidFill>
            <a:prstDash val="solid"/>
          </a:ln>
        </p:spPr>
      </p:sp>
      <p:pic>
        <p:nvPicPr>
          <p:cNvPr id="11" name="Image 2" descr="preencoded.png">    </p:cNvPr>
          <p:cNvPicPr>
            <a:picLocks noChangeAspect="1"/>
          </p:cNvPicPr>
          <p:nvPr/>
        </p:nvPicPr>
        <p:blipFill>
          <a:blip r:embed="rId3"/>
          <a:stretch>
            <a:fillRect/>
          </a:stretch>
        </p:blipFill>
        <p:spPr>
          <a:xfrm>
            <a:off x="4393378" y="2358107"/>
            <a:ext cx="357188" cy="285750"/>
          </a:xfrm>
          <a:prstGeom prst="rect">
            <a:avLst/>
          </a:prstGeom>
        </p:spPr>
      </p:pic>
      <p:sp>
        <p:nvSpPr>
          <p:cNvPr id="12" name="Text 7"/>
          <p:cNvSpPr/>
          <p:nvPr/>
        </p:nvSpPr>
        <p:spPr>
          <a:xfrm>
            <a:off x="3262294" y="2784946"/>
            <a:ext cx="2619384" cy="173236"/>
          </a:xfrm>
          <a:prstGeom prst="rect">
            <a:avLst/>
          </a:prstGeom>
          <a:noFill/>
          <a:ln/>
        </p:spPr>
        <p:txBody>
          <a:bodyPr wrap="square" lIns="0" tIns="0" rIns="0" bIns="0" rtlCol="0" anchor="t">
            <a:spAutoFit/>
          </a:bodyPr>
          <a:lstStyle/>
          <a:p>
            <a:pPr algn="ctr" indent="0" marL="0">
              <a:buNone/>
            </a:pPr>
            <a:r>
              <a:rPr lang="en-US" sz="1000" b="1" dirty="0">
                <a:solidFill>
                  <a:srgbClr val="0F172A"/>
                </a:solidFill>
                <a:latin typeface="Inter Bold" pitchFamily="34" charset="0"/>
                <a:ea typeface="Inter Bold" pitchFamily="34" charset="-122"/>
                <a:cs typeface="Inter Bold" pitchFamily="34" charset="-120"/>
              </a:rPr>
              <a:t>Developer</a:t>
            </a:r>
            <a:endParaRPr lang="en-US" sz="1000" dirty="0"/>
          </a:p>
        </p:txBody>
      </p:sp>
      <p:sp>
        <p:nvSpPr>
          <p:cNvPr id="13" name="Text 8"/>
          <p:cNvSpPr/>
          <p:nvPr/>
        </p:nvSpPr>
        <p:spPr>
          <a:xfrm>
            <a:off x="3262294" y="2958182"/>
            <a:ext cx="2619384" cy="192881"/>
          </a:xfrm>
          <a:prstGeom prst="rect">
            <a:avLst/>
          </a:prstGeom>
          <a:noFill/>
          <a:ln/>
        </p:spPr>
        <p:txBody>
          <a:bodyPr wrap="square" lIns="0" tIns="85090" rIns="0" bIns="0" rtlCol="0" anchor="t">
            <a:spAutoFit/>
          </a:bodyPr>
          <a:lstStyle/>
          <a:p>
            <a:pPr algn="ctr" indent="0" marL="0">
              <a:buNone/>
            </a:pPr>
            <a:r>
              <a:rPr lang="en-US" sz="750" dirty="0">
                <a:solidFill>
                  <a:srgbClr val="334155"/>
                </a:solidFill>
                <a:latin typeface="Inter" pitchFamily="34" charset="0"/>
                <a:ea typeface="Inter" pitchFamily="34" charset="-122"/>
                <a:cs typeface="Inter" pitchFamily="34" charset="-120"/>
              </a:rPr>
              <a:t>The "How"</a:t>
            </a:r>
            <a:endParaRPr lang="en-US" sz="750" dirty="0"/>
          </a:p>
        </p:txBody>
      </p:sp>
      <p:sp>
        <p:nvSpPr>
          <p:cNvPr id="14" name="Shape 9"/>
          <p:cNvSpPr/>
          <p:nvPr/>
        </p:nvSpPr>
        <p:spPr>
          <a:xfrm>
            <a:off x="6095991" y="2117006"/>
            <a:ext cx="2619356" cy="1428750"/>
          </a:xfrm>
          <a:prstGeom prst="rect">
            <a:avLst/>
          </a:prstGeom>
          <a:solidFill>
            <a:srgbClr val="FFFFFF"/>
          </a:solidFill>
          <a:ln w="9144">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7262794" y="2358107"/>
            <a:ext cx="285750" cy="285750"/>
          </a:xfrm>
          <a:prstGeom prst="rect">
            <a:avLst/>
          </a:prstGeom>
        </p:spPr>
      </p:pic>
      <p:sp>
        <p:nvSpPr>
          <p:cNvPr id="16" name="Text 10"/>
          <p:cNvSpPr/>
          <p:nvPr/>
        </p:nvSpPr>
        <p:spPr>
          <a:xfrm>
            <a:off x="6095991" y="2784946"/>
            <a:ext cx="2619356" cy="173236"/>
          </a:xfrm>
          <a:prstGeom prst="rect">
            <a:avLst/>
          </a:prstGeom>
          <a:noFill/>
          <a:ln/>
        </p:spPr>
        <p:txBody>
          <a:bodyPr wrap="square" lIns="0" tIns="0" rIns="0" bIns="0" rtlCol="0" anchor="t">
            <a:spAutoFit/>
          </a:bodyPr>
          <a:lstStyle/>
          <a:p>
            <a:pPr algn="ctr" indent="0" marL="0">
              <a:buNone/>
            </a:pPr>
            <a:r>
              <a:rPr lang="en-US" sz="1000" b="1" dirty="0">
                <a:solidFill>
                  <a:srgbClr val="0F172A"/>
                </a:solidFill>
                <a:latin typeface="Inter Bold" pitchFamily="34" charset="0"/>
                <a:ea typeface="Inter Bold" pitchFamily="34" charset="-122"/>
                <a:cs typeface="Inter Bold" pitchFamily="34" charset="-120"/>
              </a:rPr>
              <a:t>Tester</a:t>
            </a:r>
            <a:endParaRPr lang="en-US" sz="1000" dirty="0"/>
          </a:p>
        </p:txBody>
      </p:sp>
      <p:sp>
        <p:nvSpPr>
          <p:cNvPr id="17" name="Text 11"/>
          <p:cNvSpPr/>
          <p:nvPr/>
        </p:nvSpPr>
        <p:spPr>
          <a:xfrm>
            <a:off x="6095991" y="2958182"/>
            <a:ext cx="2619356" cy="192881"/>
          </a:xfrm>
          <a:prstGeom prst="rect">
            <a:avLst/>
          </a:prstGeom>
          <a:noFill/>
          <a:ln/>
        </p:spPr>
        <p:txBody>
          <a:bodyPr wrap="square" lIns="0" tIns="85090" rIns="0" bIns="0" rtlCol="0" anchor="t">
            <a:spAutoFit/>
          </a:bodyPr>
          <a:lstStyle/>
          <a:p>
            <a:pPr algn="ctr" indent="0" marL="0">
              <a:buNone/>
            </a:pPr>
            <a:r>
              <a:rPr lang="en-US" sz="750" dirty="0">
                <a:solidFill>
                  <a:srgbClr val="334155"/>
                </a:solidFill>
                <a:latin typeface="Inter" pitchFamily="34" charset="0"/>
                <a:ea typeface="Inter" pitchFamily="34" charset="-122"/>
                <a:cs typeface="Inter" pitchFamily="34" charset="-120"/>
              </a:rPr>
              <a:t>The "What If?"</a:t>
            </a:r>
            <a:endParaRPr lang="en-US" sz="750" dirty="0"/>
          </a:p>
        </p:txBody>
      </p:sp>
      <p:sp>
        <p:nvSpPr>
          <p:cNvPr id="18" name="Text 12"/>
          <p:cNvSpPr/>
          <p:nvPr/>
        </p:nvSpPr>
        <p:spPr>
          <a:xfrm>
            <a:off x="678656" y="3974381"/>
            <a:ext cx="7874198" cy="173236"/>
          </a:xfrm>
          <a:prstGeom prst="rect">
            <a:avLst/>
          </a:prstGeom>
          <a:noFill/>
          <a:ln/>
        </p:spPr>
        <p:txBody>
          <a:bodyPr wrap="square" lIns="0" tIns="0" rIns="0" bIns="0" rtlCol="0" anchor="t">
            <a:spAutoFit/>
          </a:bodyPr>
          <a:lstStyle/>
          <a:p>
            <a:pPr algn="l" indent="0" marL="0">
              <a:buNone/>
            </a:pPr>
            <a:r>
              <a:rPr lang="en-US" sz="1050" i="1" dirty="0">
                <a:solidFill>
                  <a:srgbClr val="475569"/>
                </a:solidFill>
                <a:latin typeface="Inter" pitchFamily="34" charset="0"/>
                <a:ea typeface="Inter" pitchFamily="34" charset="-122"/>
                <a:cs typeface="Inter" pitchFamily="34" charset="-120"/>
              </a:rPr>
              <a:t>"The cost of fixing a defect increases exponentially with each stage of the software development lifecycle. Early and</a:t>
            </a:r>
            <a:endParaRPr lang="en-US" sz="1050" dirty="0"/>
          </a:p>
        </p:txBody>
      </p:sp>
      <p:sp>
        <p:nvSpPr>
          <p:cNvPr id="19" name="Text 13"/>
          <p:cNvSpPr/>
          <p:nvPr/>
        </p:nvSpPr>
        <p:spPr>
          <a:xfrm>
            <a:off x="678656" y="4147617"/>
            <a:ext cx="5216723" cy="173236"/>
          </a:xfrm>
          <a:prstGeom prst="rect">
            <a:avLst/>
          </a:prstGeom>
          <a:noFill/>
          <a:ln/>
        </p:spPr>
        <p:txBody>
          <a:bodyPr wrap="square" lIns="0" tIns="0" rIns="0" bIns="0" rtlCol="0" anchor="t">
            <a:spAutoFit/>
          </a:bodyPr>
          <a:lstStyle/>
          <a:p>
            <a:pPr algn="l" indent="0" marL="0">
              <a:buNone/>
            </a:pPr>
            <a:r>
              <a:rPr lang="en-US" sz="1050" i="1" dirty="0">
                <a:solidFill>
                  <a:srgbClr val="475569"/>
                </a:solidFill>
                <a:latin typeface="Inter" pitchFamily="34" charset="0"/>
                <a:ea typeface="Inter" pitchFamily="34" charset="-122"/>
                <a:cs typeface="Inter" pitchFamily="34" charset="-120"/>
              </a:rPr>
              <a:t>continuous collaboration is the most effective strategy for defect prevention."</a:t>
            </a:r>
            <a:endParaRPr lang="en-US" sz="1050" dirty="0"/>
          </a:p>
        </p:txBody>
      </p:sp>
      <p:sp>
        <p:nvSpPr>
          <p:cNvPr id="20" name="Text 14"/>
          <p:cNvSpPr/>
          <p:nvPr/>
        </p:nvSpPr>
        <p:spPr>
          <a:xfrm>
            <a:off x="678656" y="4392290"/>
            <a:ext cx="8036719" cy="137517"/>
          </a:xfrm>
          <a:prstGeom prst="rect">
            <a:avLst/>
          </a:prstGeom>
          <a:noFill/>
          <a:ln/>
        </p:spPr>
        <p:txBody>
          <a:bodyPr wrap="square" lIns="0" tIns="0" rIns="0" bIns="0" rtlCol="0" anchor="t">
            <a:spAutoFit/>
          </a:bodyPr>
          <a:lstStyle/>
          <a:p>
            <a:pPr algn="l" indent="0" marL="0">
              <a:buNone/>
            </a:pPr>
            <a:r>
              <a:rPr lang="en-US" sz="800" b="1" dirty="0">
                <a:solidFill>
                  <a:srgbClr val="475569"/>
                </a:solidFill>
                <a:latin typeface="Inter Bold" pitchFamily="34" charset="0"/>
                <a:ea typeface="Inter Bold" pitchFamily="34" charset="-122"/>
                <a:cs typeface="Inter Bold" pitchFamily="34" charset="-120"/>
              </a:rPr>
              <a:t>— Steve McConnell, Code Complete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05445"/>
          </a:xfrm>
          <a:prstGeom prst="rect">
            <a:avLst/>
          </a:prstGeom>
          <a:solidFill>
            <a:srgbClr val="0F172A"/>
          </a:solidFill>
          <a:ln/>
        </p:spPr>
      </p:sp>
      <p:sp>
        <p:nvSpPr>
          <p:cNvPr id="4" name="Text 1"/>
          <p:cNvSpPr/>
          <p:nvPr/>
        </p:nvSpPr>
        <p:spPr>
          <a:xfrm>
            <a:off x="428625" y="285750"/>
            <a:ext cx="8715375" cy="276820"/>
          </a:xfrm>
          <a:prstGeom prst="rect">
            <a:avLst/>
          </a:prstGeom>
          <a:noFill/>
          <a:ln/>
        </p:spPr>
        <p:txBody>
          <a:bodyPr wrap="square" lIns="0" tIns="0" rIns="0" bIns="0" rtlCol="0" anchor="t">
            <a:spAutoFit/>
          </a:bodyPr>
          <a:lstStyle/>
          <a:p>
            <a:pPr algn="l" indent="0" marL="0">
              <a:buNone/>
            </a:pPr>
            <a:r>
              <a:rPr lang="en-US" sz="1600" b="1" dirty="0">
                <a:solidFill>
                  <a:srgbClr val="F8FAFC"/>
                </a:solidFill>
                <a:latin typeface="Inter Bold" pitchFamily="34" charset="0"/>
                <a:ea typeface="Inter Bold" pitchFamily="34" charset="-122"/>
                <a:cs typeface="Inter Bold" pitchFamily="34" charset="-120"/>
              </a:rPr>
              <a:t>For Business Analysts: Clarity over Complexity</a:t>
            </a:r>
            <a:endParaRPr lang="en-US" sz="1600" dirty="0"/>
          </a:p>
        </p:txBody>
      </p:sp>
      <p:sp>
        <p:nvSpPr>
          <p:cNvPr id="5" name="Text 2"/>
          <p:cNvSpPr/>
          <p:nvPr/>
        </p:nvSpPr>
        <p:spPr>
          <a:xfrm>
            <a:off x="428625" y="1062633"/>
            <a:ext cx="8286750"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334155"/>
                </a:solidFill>
                <a:latin typeface="Inter" pitchFamily="34" charset="0"/>
                <a:ea typeface="Inter" pitchFamily="34" charset="-122"/>
                <a:cs typeface="Inter" pitchFamily="34" charset="-120"/>
              </a:rPr>
              <a:t>Business Analysts serve as the bridge between abstract business goals and concrete technical requirements. The focus should be on </a:t>
            </a:r>
            <a:r>
              <a:rPr lang="en-US" sz="900" b="1" dirty="0">
                <a:solidFill>
                  <a:srgbClr val="2563EB"/>
                </a:solidFill>
                <a:latin typeface="Inter Bold" pitchFamily="34" charset="0"/>
                <a:ea typeface="Inter Bold" pitchFamily="34" charset="-122"/>
                <a:cs typeface="Inter Bold" pitchFamily="34" charset="-120"/>
              </a:rPr>
              <a:t>Acceptance Criteria</a:t>
            </a:r>
            <a:r>
              <a:rPr lang="en-US" sz="950" dirty="0">
                <a:solidFill>
                  <a:srgbClr val="334155"/>
                </a:solidFill>
                <a:latin typeface="Inter" pitchFamily="34" charset="0"/>
                <a:ea typeface="Inter" pitchFamily="34" charset="-122"/>
                <a:cs typeface="Inter" pitchFamily="34" charset="-120"/>
              </a:rPr>
              <a:t> that provide clear, binary outcomes for success, rather than voluminous documentation.</a:t>
            </a:r>
            <a:endParaRPr lang="en-US" sz="950" dirty="0"/>
          </a:p>
        </p:txBody>
      </p:sp>
      <p:sp>
        <p:nvSpPr>
          <p:cNvPr id="6" name="Shape 3"/>
          <p:cNvSpPr/>
          <p:nvPr/>
        </p:nvSpPr>
        <p:spPr>
          <a:xfrm>
            <a:off x="428625" y="1759818"/>
            <a:ext cx="8286750" cy="1805583"/>
          </a:xfrm>
          <a:prstGeom prst="rect">
            <a:avLst/>
          </a:prstGeom>
          <a:solidFill>
            <a:srgbClr val="FFFFFF"/>
          </a:solidFill>
          <a:ln/>
        </p:spPr>
      </p:sp>
      <p:sp>
        <p:nvSpPr>
          <p:cNvPr id="7" name="Shape 4"/>
          <p:cNvSpPr/>
          <p:nvPr/>
        </p:nvSpPr>
        <p:spPr>
          <a:xfrm>
            <a:off x="428625" y="1759818"/>
            <a:ext cx="2071688" cy="369689"/>
          </a:xfrm>
          <a:prstGeom prst="rect">
            <a:avLst/>
          </a:prstGeom>
          <a:solidFill>
            <a:srgbClr val="2563EB"/>
          </a:solidFill>
          <a:ln/>
        </p:spPr>
      </p:sp>
      <p:sp>
        <p:nvSpPr>
          <p:cNvPr id="8" name="Text 5"/>
          <p:cNvSpPr/>
          <p:nvPr/>
        </p:nvSpPr>
        <p:spPr>
          <a:xfrm>
            <a:off x="428625" y="1759818"/>
            <a:ext cx="2071688" cy="369689"/>
          </a:xfrm>
          <a:prstGeom prst="rect">
            <a:avLst/>
          </a:prstGeom>
          <a:noFill/>
          <a:ln/>
        </p:spPr>
        <p:txBody>
          <a:bodyPr wrap="square" lIns="127508" tIns="127508" rIns="127508" bIns="127508" rtlCol="0" anchor="ctr">
            <a:spAutoFit/>
          </a:bodyPr>
          <a:lstStyle/>
          <a:p>
            <a:pPr algn="l" indent="0" marL="0">
              <a:buNone/>
            </a:pPr>
            <a:r>
              <a:rPr lang="en-US" sz="900" b="1" dirty="0">
                <a:solidFill>
                  <a:srgbClr val="FFFFFF"/>
                </a:solidFill>
                <a:latin typeface="Inter Bold" pitchFamily="34" charset="0"/>
                <a:ea typeface="Inter Bold" pitchFamily="34" charset="-122"/>
                <a:cs typeface="Inter Bold" pitchFamily="34" charset="-120"/>
              </a:rPr>
              <a:t>Best Practice</a:t>
            </a:r>
            <a:endParaRPr lang="en-US" sz="900" dirty="0"/>
          </a:p>
        </p:txBody>
      </p:sp>
      <p:sp>
        <p:nvSpPr>
          <p:cNvPr id="9" name="Shape 6"/>
          <p:cNvSpPr/>
          <p:nvPr/>
        </p:nvSpPr>
        <p:spPr>
          <a:xfrm>
            <a:off x="2500313" y="1759818"/>
            <a:ext cx="3729038" cy="369689"/>
          </a:xfrm>
          <a:prstGeom prst="rect">
            <a:avLst/>
          </a:prstGeom>
          <a:solidFill>
            <a:srgbClr val="2563EB"/>
          </a:solidFill>
          <a:ln/>
        </p:spPr>
      </p:sp>
      <p:sp>
        <p:nvSpPr>
          <p:cNvPr id="10" name="Text 7"/>
          <p:cNvSpPr/>
          <p:nvPr/>
        </p:nvSpPr>
        <p:spPr>
          <a:xfrm>
            <a:off x="2500313" y="1759818"/>
            <a:ext cx="3729038" cy="369689"/>
          </a:xfrm>
          <a:prstGeom prst="rect">
            <a:avLst/>
          </a:prstGeom>
          <a:noFill/>
          <a:ln/>
        </p:spPr>
        <p:txBody>
          <a:bodyPr wrap="square" lIns="127508" tIns="127508" rIns="127508" bIns="127508" rtlCol="0" anchor="ctr">
            <a:spAutoFit/>
          </a:bodyPr>
          <a:lstStyle/>
          <a:p>
            <a:pPr algn="l" indent="0" marL="0">
              <a:buNone/>
            </a:pPr>
            <a:r>
              <a:rPr lang="en-US" sz="900" b="1" dirty="0">
                <a:solidFill>
                  <a:srgbClr val="FFFFFF"/>
                </a:solidFill>
                <a:latin typeface="Inter Bold" pitchFamily="34" charset="0"/>
                <a:ea typeface="Inter Bold" pitchFamily="34" charset="-122"/>
                <a:cs typeface="Inter Bold" pitchFamily="34" charset="-120"/>
              </a:rPr>
              <a:t>Description</a:t>
            </a:r>
            <a:endParaRPr lang="en-US" sz="900" dirty="0"/>
          </a:p>
        </p:txBody>
      </p:sp>
      <p:sp>
        <p:nvSpPr>
          <p:cNvPr id="11" name="Shape 8"/>
          <p:cNvSpPr/>
          <p:nvPr/>
        </p:nvSpPr>
        <p:spPr>
          <a:xfrm>
            <a:off x="6229350" y="1759818"/>
            <a:ext cx="2486025" cy="369689"/>
          </a:xfrm>
          <a:prstGeom prst="rect">
            <a:avLst/>
          </a:prstGeom>
          <a:solidFill>
            <a:srgbClr val="2563EB"/>
          </a:solidFill>
          <a:ln/>
        </p:spPr>
      </p:sp>
      <p:sp>
        <p:nvSpPr>
          <p:cNvPr id="12" name="Text 9"/>
          <p:cNvSpPr/>
          <p:nvPr/>
        </p:nvSpPr>
        <p:spPr>
          <a:xfrm>
            <a:off x="6229350" y="1759818"/>
            <a:ext cx="2486025" cy="369689"/>
          </a:xfrm>
          <a:prstGeom prst="rect">
            <a:avLst/>
          </a:prstGeom>
          <a:noFill/>
          <a:ln/>
        </p:spPr>
        <p:txBody>
          <a:bodyPr wrap="square" lIns="127508" tIns="127508" rIns="127508" bIns="127508" rtlCol="0" anchor="ctr">
            <a:spAutoFit/>
          </a:bodyPr>
          <a:lstStyle/>
          <a:p>
            <a:pPr algn="l" indent="0" marL="0">
              <a:buNone/>
            </a:pPr>
            <a:r>
              <a:rPr lang="en-US" sz="900" b="1" dirty="0">
                <a:solidFill>
                  <a:srgbClr val="FFFFFF"/>
                </a:solidFill>
                <a:latin typeface="Inter Bold" pitchFamily="34" charset="0"/>
                <a:ea typeface="Inter Bold" pitchFamily="34" charset="-122"/>
                <a:cs typeface="Inter Bold" pitchFamily="34" charset="-120"/>
              </a:rPr>
              <a:t>Key Benefit</a:t>
            </a:r>
            <a:endParaRPr lang="en-US" sz="900" dirty="0"/>
          </a:p>
        </p:txBody>
      </p:sp>
      <p:sp>
        <p:nvSpPr>
          <p:cNvPr id="13" name="Text 10"/>
          <p:cNvSpPr/>
          <p:nvPr/>
        </p:nvSpPr>
        <p:spPr>
          <a:xfrm>
            <a:off x="428625" y="2129507"/>
            <a:ext cx="2071688" cy="355402"/>
          </a:xfrm>
          <a:prstGeom prst="rect">
            <a:avLst/>
          </a:prstGeom>
          <a:noFill/>
          <a:ln/>
        </p:spPr>
        <p:txBody>
          <a:bodyPr wrap="square" lIns="127508" tIns="127508" rIns="127508" bIns="127508" rtlCol="0" anchor="t">
            <a:spAutoFit/>
          </a:bodyPr>
          <a:lstStyle/>
          <a:p>
            <a:pPr algn="l" indent="0" marL="0">
              <a:buNone/>
            </a:pPr>
            <a:r>
              <a:rPr lang="en-US" sz="800" b="1" dirty="0">
                <a:solidFill>
                  <a:srgbClr val="0F172A"/>
                </a:solidFill>
                <a:latin typeface="Inter Bold" pitchFamily="34" charset="0"/>
                <a:ea typeface="Inter Bold" pitchFamily="34" charset="-122"/>
                <a:cs typeface="Inter Bold" pitchFamily="34" charset="-120"/>
              </a:rPr>
              <a:t>Requirement Hypotheses</a:t>
            </a:r>
            <a:endParaRPr lang="en-US" sz="800" dirty="0"/>
          </a:p>
        </p:txBody>
      </p:sp>
      <p:sp>
        <p:nvSpPr>
          <p:cNvPr id="14" name="Text 11"/>
          <p:cNvSpPr/>
          <p:nvPr/>
        </p:nvSpPr>
        <p:spPr>
          <a:xfrm>
            <a:off x="2500313" y="2129507"/>
            <a:ext cx="3729038" cy="355402"/>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Treating stories as value propositions to be validated.</a:t>
            </a:r>
            <a:endParaRPr lang="en-US" sz="850" dirty="0"/>
          </a:p>
        </p:txBody>
      </p:sp>
      <p:sp>
        <p:nvSpPr>
          <p:cNvPr id="15" name="Text 12"/>
          <p:cNvSpPr/>
          <p:nvPr/>
        </p:nvSpPr>
        <p:spPr>
          <a:xfrm>
            <a:off x="6229350" y="2129507"/>
            <a:ext cx="2486025" cy="355402"/>
          </a:xfrm>
          <a:prstGeom prst="rect">
            <a:avLst/>
          </a:prstGeom>
          <a:noFill/>
          <a:ln/>
        </p:spPr>
        <p:txBody>
          <a:bodyPr wrap="square" lIns="127508" tIns="127508" rIns="127508" bIns="127508" rtlCol="0" anchor="t">
            <a:spAutoFit/>
          </a:bodyPr>
          <a:lstStyle/>
          <a:p>
            <a:pPr algn="l" indent="0" marL="0">
              <a:buNone/>
            </a:pPr>
            <a:r>
              <a:rPr lang="en-US" sz="800" b="1" dirty="0">
                <a:solidFill>
                  <a:srgbClr val="10B981"/>
                </a:solidFill>
                <a:latin typeface="Inter Bold" pitchFamily="34" charset="0"/>
                <a:ea typeface="Inter Bold" pitchFamily="34" charset="-122"/>
                <a:cs typeface="Inter Bold" pitchFamily="34" charset="-120"/>
              </a:rPr>
              <a:t>Ensures focus on business impact.</a:t>
            </a:r>
            <a:endParaRPr lang="en-US" sz="800" dirty="0"/>
          </a:p>
        </p:txBody>
      </p:sp>
      <p:sp>
        <p:nvSpPr>
          <p:cNvPr id="16" name="Text 13"/>
          <p:cNvSpPr/>
          <p:nvPr/>
        </p:nvSpPr>
        <p:spPr>
          <a:xfrm>
            <a:off x="428625" y="2484909"/>
            <a:ext cx="2071688" cy="358973"/>
          </a:xfrm>
          <a:prstGeom prst="rect">
            <a:avLst/>
          </a:prstGeom>
          <a:noFill/>
          <a:ln/>
        </p:spPr>
        <p:txBody>
          <a:bodyPr wrap="square" lIns="127508" tIns="127508" rIns="127508" bIns="127508" rtlCol="0" anchor="t">
            <a:spAutoFit/>
          </a:bodyPr>
          <a:lstStyle/>
          <a:p>
            <a:pPr algn="l" indent="0" marL="0">
              <a:buNone/>
            </a:pPr>
            <a:r>
              <a:rPr lang="en-US" sz="800" b="1" dirty="0">
                <a:solidFill>
                  <a:srgbClr val="0F172A"/>
                </a:solidFill>
                <a:latin typeface="Inter Bold" pitchFamily="34" charset="0"/>
                <a:ea typeface="Inter Bold" pitchFamily="34" charset="-122"/>
                <a:cs typeface="Inter Bold" pitchFamily="34" charset="-120"/>
              </a:rPr>
              <a:t>Visual Modeling</a:t>
            </a:r>
            <a:endParaRPr lang="en-US" sz="800" dirty="0"/>
          </a:p>
        </p:txBody>
      </p:sp>
      <p:sp>
        <p:nvSpPr>
          <p:cNvPr id="17" name="Text 14"/>
          <p:cNvSpPr/>
          <p:nvPr/>
        </p:nvSpPr>
        <p:spPr>
          <a:xfrm>
            <a:off x="2500313" y="2484909"/>
            <a:ext cx="3729038" cy="358973"/>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Using flowcharts, wireframes, and mock-ups over text.</a:t>
            </a:r>
            <a:endParaRPr lang="en-US" sz="850" dirty="0"/>
          </a:p>
        </p:txBody>
      </p:sp>
      <p:sp>
        <p:nvSpPr>
          <p:cNvPr id="18" name="Text 15"/>
          <p:cNvSpPr/>
          <p:nvPr/>
        </p:nvSpPr>
        <p:spPr>
          <a:xfrm>
            <a:off x="6229350" y="2484909"/>
            <a:ext cx="2486025" cy="358973"/>
          </a:xfrm>
          <a:prstGeom prst="rect">
            <a:avLst/>
          </a:prstGeom>
          <a:noFill/>
          <a:ln/>
        </p:spPr>
        <p:txBody>
          <a:bodyPr wrap="square" lIns="127508" tIns="127508" rIns="127508" bIns="127508" rtlCol="0" anchor="t">
            <a:spAutoFit/>
          </a:bodyPr>
          <a:lstStyle/>
          <a:p>
            <a:pPr algn="l" indent="0" marL="0">
              <a:buNone/>
            </a:pPr>
            <a:r>
              <a:rPr lang="en-US" sz="800" b="1" dirty="0">
                <a:solidFill>
                  <a:srgbClr val="10B981"/>
                </a:solidFill>
                <a:latin typeface="Inter Bold" pitchFamily="34" charset="0"/>
                <a:ea typeface="Inter Bold" pitchFamily="34" charset="-122"/>
                <a:cs typeface="Inter Bold" pitchFamily="34" charset="-120"/>
              </a:rPr>
              <a:t>Reduces ambiguity and gaps.</a:t>
            </a:r>
            <a:endParaRPr lang="en-US" sz="800" dirty="0"/>
          </a:p>
        </p:txBody>
      </p:sp>
      <p:sp>
        <p:nvSpPr>
          <p:cNvPr id="19" name="Text 16"/>
          <p:cNvSpPr/>
          <p:nvPr/>
        </p:nvSpPr>
        <p:spPr>
          <a:xfrm>
            <a:off x="428625" y="2843882"/>
            <a:ext cx="2071688" cy="358973"/>
          </a:xfrm>
          <a:prstGeom prst="rect">
            <a:avLst/>
          </a:prstGeom>
          <a:noFill/>
          <a:ln/>
        </p:spPr>
        <p:txBody>
          <a:bodyPr wrap="square" lIns="127508" tIns="127508" rIns="127508" bIns="127508" rtlCol="0" anchor="t">
            <a:spAutoFit/>
          </a:bodyPr>
          <a:lstStyle/>
          <a:p>
            <a:pPr algn="l" indent="0" marL="0">
              <a:buNone/>
            </a:pPr>
            <a:r>
              <a:rPr lang="en-US" sz="800" b="1" dirty="0">
                <a:solidFill>
                  <a:srgbClr val="0F172A"/>
                </a:solidFill>
                <a:latin typeface="Inter Bold" pitchFamily="34" charset="0"/>
                <a:ea typeface="Inter Bold" pitchFamily="34" charset="-122"/>
                <a:cs typeface="Inter Bold" pitchFamily="34" charset="-120"/>
              </a:rPr>
              <a:t>Continuous Validation</a:t>
            </a:r>
            <a:endParaRPr lang="en-US" sz="800" dirty="0"/>
          </a:p>
        </p:txBody>
      </p:sp>
      <p:sp>
        <p:nvSpPr>
          <p:cNvPr id="20" name="Text 17"/>
          <p:cNvSpPr/>
          <p:nvPr/>
        </p:nvSpPr>
        <p:spPr>
          <a:xfrm>
            <a:off x="2500313" y="2843882"/>
            <a:ext cx="3729038" cy="358973"/>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Early and frequent stakeholder demos and feedback.</a:t>
            </a:r>
            <a:endParaRPr lang="en-US" sz="850" dirty="0"/>
          </a:p>
        </p:txBody>
      </p:sp>
      <p:sp>
        <p:nvSpPr>
          <p:cNvPr id="21" name="Text 18"/>
          <p:cNvSpPr/>
          <p:nvPr/>
        </p:nvSpPr>
        <p:spPr>
          <a:xfrm>
            <a:off x="6229350" y="2843882"/>
            <a:ext cx="2486025" cy="358973"/>
          </a:xfrm>
          <a:prstGeom prst="rect">
            <a:avLst/>
          </a:prstGeom>
          <a:noFill/>
          <a:ln/>
        </p:spPr>
        <p:txBody>
          <a:bodyPr wrap="square" lIns="127508" tIns="127508" rIns="127508" bIns="127508" rtlCol="0" anchor="t">
            <a:spAutoFit/>
          </a:bodyPr>
          <a:lstStyle/>
          <a:p>
            <a:pPr algn="l" indent="0" marL="0">
              <a:buNone/>
            </a:pPr>
            <a:r>
              <a:rPr lang="en-US" sz="800" b="1" dirty="0">
                <a:solidFill>
                  <a:srgbClr val="10B981"/>
                </a:solidFill>
                <a:latin typeface="Inter Bold" pitchFamily="34" charset="0"/>
                <a:ea typeface="Inter Bold" pitchFamily="34" charset="-122"/>
                <a:cs typeface="Inter Bold" pitchFamily="34" charset="-120"/>
              </a:rPr>
              <a:t>Prevents late-stage scope creep.</a:t>
            </a:r>
            <a:endParaRPr lang="en-US" sz="800" dirty="0"/>
          </a:p>
        </p:txBody>
      </p:sp>
      <p:sp>
        <p:nvSpPr>
          <p:cNvPr id="22" name="Text 19"/>
          <p:cNvSpPr/>
          <p:nvPr/>
        </p:nvSpPr>
        <p:spPr>
          <a:xfrm>
            <a:off x="428625" y="3202856"/>
            <a:ext cx="2071688" cy="358973"/>
          </a:xfrm>
          <a:prstGeom prst="rect">
            <a:avLst/>
          </a:prstGeom>
          <a:noFill/>
          <a:ln/>
        </p:spPr>
        <p:txBody>
          <a:bodyPr wrap="square" lIns="127508" tIns="127508" rIns="127508" bIns="127508" rtlCol="0" anchor="t">
            <a:spAutoFit/>
          </a:bodyPr>
          <a:lstStyle/>
          <a:p>
            <a:pPr algn="l" indent="0" marL="0">
              <a:buNone/>
            </a:pPr>
            <a:r>
              <a:rPr lang="en-US" sz="800" b="1" dirty="0">
                <a:solidFill>
                  <a:srgbClr val="0F172A"/>
                </a:solidFill>
                <a:latin typeface="Inter Bold" pitchFamily="34" charset="0"/>
                <a:ea typeface="Inter Bold" pitchFamily="34" charset="-122"/>
                <a:cs typeface="Inter Bold" pitchFamily="34" charset="-120"/>
              </a:rPr>
              <a:t>Binary Acceptance</a:t>
            </a:r>
            <a:endParaRPr lang="en-US" sz="800" dirty="0"/>
          </a:p>
        </p:txBody>
      </p:sp>
      <p:sp>
        <p:nvSpPr>
          <p:cNvPr id="23" name="Text 20"/>
          <p:cNvSpPr/>
          <p:nvPr/>
        </p:nvSpPr>
        <p:spPr>
          <a:xfrm>
            <a:off x="2500313" y="3202856"/>
            <a:ext cx="3729038" cy="358973"/>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Defining clear, measurable success conditions for stories.</a:t>
            </a:r>
            <a:endParaRPr lang="en-US" sz="850" dirty="0"/>
          </a:p>
        </p:txBody>
      </p:sp>
      <p:sp>
        <p:nvSpPr>
          <p:cNvPr id="24" name="Text 21"/>
          <p:cNvSpPr/>
          <p:nvPr/>
        </p:nvSpPr>
        <p:spPr>
          <a:xfrm>
            <a:off x="6229350" y="3202856"/>
            <a:ext cx="2486025" cy="358973"/>
          </a:xfrm>
          <a:prstGeom prst="rect">
            <a:avLst/>
          </a:prstGeom>
          <a:noFill/>
          <a:ln/>
        </p:spPr>
        <p:txBody>
          <a:bodyPr wrap="square" lIns="127508" tIns="127508" rIns="127508" bIns="127508" rtlCol="0" anchor="t">
            <a:spAutoFit/>
          </a:bodyPr>
          <a:lstStyle/>
          <a:p>
            <a:pPr algn="l" indent="0" marL="0">
              <a:buNone/>
            </a:pPr>
            <a:r>
              <a:rPr lang="en-US" sz="800" b="1" dirty="0">
                <a:solidFill>
                  <a:srgbClr val="10B981"/>
                </a:solidFill>
                <a:latin typeface="Inter Bold" pitchFamily="34" charset="0"/>
                <a:ea typeface="Inter Bold" pitchFamily="34" charset="-122"/>
                <a:cs typeface="Inter Bold" pitchFamily="34" charset="-120"/>
              </a:rPr>
              <a:t>Facilitates automated testing.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05445"/>
          </a:xfrm>
          <a:prstGeom prst="rect">
            <a:avLst/>
          </a:prstGeom>
          <a:solidFill>
            <a:srgbClr val="0F172A"/>
          </a:solidFill>
          <a:ln/>
        </p:spPr>
      </p:sp>
      <p:sp>
        <p:nvSpPr>
          <p:cNvPr id="4" name="Text 1"/>
          <p:cNvSpPr/>
          <p:nvPr/>
        </p:nvSpPr>
        <p:spPr>
          <a:xfrm>
            <a:off x="428625" y="285750"/>
            <a:ext cx="8715375" cy="276820"/>
          </a:xfrm>
          <a:prstGeom prst="rect">
            <a:avLst/>
          </a:prstGeom>
          <a:noFill/>
          <a:ln/>
        </p:spPr>
        <p:txBody>
          <a:bodyPr wrap="square" lIns="0" tIns="0" rIns="0" bIns="0" rtlCol="0" anchor="t">
            <a:spAutoFit/>
          </a:bodyPr>
          <a:lstStyle/>
          <a:p>
            <a:pPr algn="l" indent="0" marL="0">
              <a:buNone/>
            </a:pPr>
            <a:r>
              <a:rPr lang="en-US" sz="1600" b="1" dirty="0">
                <a:solidFill>
                  <a:srgbClr val="F8FAFC"/>
                </a:solidFill>
                <a:latin typeface="Inter Bold" pitchFamily="34" charset="0"/>
                <a:ea typeface="Inter Bold" pitchFamily="34" charset="-122"/>
                <a:cs typeface="Inter Bold" pitchFamily="34" charset="-120"/>
              </a:rPr>
              <a:t>For Developers: Engineering for Change</a:t>
            </a:r>
            <a:endParaRPr lang="en-US" sz="1600" dirty="0"/>
          </a:p>
        </p:txBody>
      </p:sp>
      <p:sp>
        <p:nvSpPr>
          <p:cNvPr id="5" name="Text 2"/>
          <p:cNvSpPr/>
          <p:nvPr/>
        </p:nvSpPr>
        <p:spPr>
          <a:xfrm>
            <a:off x="428625" y="1134070"/>
            <a:ext cx="3636169" cy="822871"/>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334155"/>
                </a:solidFill>
                <a:latin typeface="Inter" pitchFamily="34" charset="0"/>
                <a:ea typeface="Inter" pitchFamily="34" charset="-122"/>
                <a:cs typeface="Inter" pitchFamily="34" charset="-120"/>
              </a:rPr>
              <a:t>In the dynamic landscape of software development, code </a:t>
            </a:r>
            <a:r>
              <a:rPr lang="en-US" sz="950" dirty="0">
                <a:solidFill>
                  <a:srgbClr val="334155"/>
                </a:solidFill>
                <a:latin typeface="Inter" pitchFamily="34" charset="0"/>
                <a:ea typeface="Inter" pitchFamily="34" charset="-122"/>
                <a:cs typeface="Inter" pitchFamily="34" charset="-120"/>
              </a:rPr>
              <a:t>must be engineered with an inherent capacity for change. </a:t>
            </a:r>
            <a:r>
              <a:rPr lang="en-US" sz="950" dirty="0">
                <a:solidFill>
                  <a:srgbClr val="334155"/>
                </a:solidFill>
                <a:latin typeface="Inter" pitchFamily="34" charset="0"/>
                <a:ea typeface="Inter" pitchFamily="34" charset="-122"/>
                <a:cs typeface="Inter" pitchFamily="34" charset="-120"/>
              </a:rPr>
              <a:t>Adherence to </a:t>
            </a:r>
            <a:r>
              <a:rPr lang="en-US" sz="900" b="1" dirty="0">
                <a:solidFill>
                  <a:srgbClr val="2563EB"/>
                </a:solidFill>
                <a:latin typeface="Inter Bold" pitchFamily="34" charset="0"/>
                <a:ea typeface="Inter Bold" pitchFamily="34" charset="-122"/>
                <a:cs typeface="Inter Bold" pitchFamily="34" charset="-120"/>
              </a:rPr>
              <a:t>SOLID principles</a:t>
            </a:r>
            <a:r>
              <a:rPr lang="en-US" sz="950" dirty="0">
                <a:solidFill>
                  <a:srgbClr val="334155"/>
                </a:solidFill>
                <a:latin typeface="Inter" pitchFamily="34" charset="0"/>
                <a:ea typeface="Inter" pitchFamily="34" charset="-122"/>
                <a:cs typeface="Inter" pitchFamily="34" charset="-120"/>
              </a:rPr>
              <a:t> and </a:t>
            </a:r>
            <a:r>
              <a:rPr lang="en-US" sz="900" b="1" dirty="0">
                <a:solidFill>
                  <a:srgbClr val="2563EB"/>
                </a:solidFill>
                <a:latin typeface="Inter Bold" pitchFamily="34" charset="0"/>
                <a:ea typeface="Inter Bold" pitchFamily="34" charset="-122"/>
                <a:cs typeface="Inter Bold" pitchFamily="34" charset="-120"/>
              </a:rPr>
              <a:t>Clean Code</a:t>
            </a:r>
            <a:r>
              <a:rPr lang="en-US" sz="950" dirty="0">
                <a:solidFill>
                  <a:srgbClr val="334155"/>
                </a:solidFill>
                <a:latin typeface="Inter" pitchFamily="34" charset="0"/>
                <a:ea typeface="Inter" pitchFamily="34" charset="-122"/>
                <a:cs typeface="Inter" pitchFamily="34" charset="-120"/>
              </a:rPr>
              <a:t> standards </a:t>
            </a:r>
            <a:r>
              <a:rPr lang="en-US" sz="950" dirty="0">
                <a:solidFill>
                  <a:srgbClr val="334155"/>
                </a:solidFill>
                <a:latin typeface="Inter" pitchFamily="34" charset="0"/>
                <a:ea typeface="Inter" pitchFamily="34" charset="-122"/>
                <a:cs typeface="Inter" pitchFamily="34" charset="-120"/>
              </a:rPr>
              <a:t>is paramount for long-term maintainability.</a:t>
            </a:r>
            <a:endParaRPr lang="en-US" sz="950" dirty="0"/>
          </a:p>
        </p:txBody>
      </p:sp>
      <p:sp>
        <p:nvSpPr>
          <p:cNvPr id="6" name="Text 3"/>
          <p:cNvSpPr/>
          <p:nvPr/>
        </p:nvSpPr>
        <p:spPr>
          <a:xfrm>
            <a:off x="428625" y="1956941"/>
            <a:ext cx="3636169" cy="760028"/>
          </a:xfrm>
          <a:prstGeom prst="rect">
            <a:avLst/>
          </a:prstGeom>
          <a:noFill/>
          <a:ln/>
        </p:spPr>
        <p:txBody>
          <a:bodyPr wrap="square" lIns="0" tIns="170053" rIns="0" bIns="0" rtlCol="0" anchor="t">
            <a:spAutoFit/>
          </a:bodyPr>
          <a:lstStyle/>
          <a:p>
            <a:pPr algn="l" indent="0" marL="0">
              <a:lnSpc>
                <a:spcPct val="128000"/>
              </a:lnSpc>
              <a:buNone/>
            </a:pPr>
            <a:r>
              <a:rPr lang="en-US" sz="950" dirty="0">
                <a:solidFill>
                  <a:srgbClr val="334155"/>
                </a:solidFill>
                <a:latin typeface="Inter" pitchFamily="34" charset="0"/>
                <a:ea typeface="Inter" pitchFamily="34" charset="-122"/>
                <a:cs typeface="Inter" pitchFamily="34" charset="-120"/>
              </a:rPr>
              <a:t>Proactive </a:t>
            </a:r>
            <a:r>
              <a:rPr lang="en-US" sz="900" b="1" dirty="0">
                <a:solidFill>
                  <a:srgbClr val="2563EB"/>
                </a:solidFill>
                <a:latin typeface="Inter Bold" pitchFamily="34" charset="0"/>
                <a:ea typeface="Inter Bold" pitchFamily="34" charset="-122"/>
                <a:cs typeface="Inter Bold" pitchFamily="34" charset="-120"/>
              </a:rPr>
              <a:t>technical debt management</a:t>
            </a:r>
            <a:r>
              <a:rPr lang="en-US" sz="950" dirty="0">
                <a:solidFill>
                  <a:srgbClr val="334155"/>
                </a:solidFill>
                <a:latin typeface="Inter" pitchFamily="34" charset="0"/>
                <a:ea typeface="Inter" pitchFamily="34" charset="-122"/>
                <a:cs typeface="Inter" pitchFamily="34" charset="-120"/>
              </a:rPr>
              <a:t> prevents the </a:t>
            </a:r>
            <a:r>
              <a:rPr lang="en-US" sz="950" dirty="0">
                <a:solidFill>
                  <a:srgbClr val="334155"/>
                </a:solidFill>
                <a:latin typeface="Inter" pitchFamily="34" charset="0"/>
                <a:ea typeface="Inter" pitchFamily="34" charset="-122"/>
                <a:cs typeface="Inter" pitchFamily="34" charset="-120"/>
              </a:rPr>
              <a:t>accumulation of unmanageable complexity, ensuring the </a:t>
            </a:r>
            <a:r>
              <a:rPr lang="en-US" sz="950" dirty="0">
                <a:solidFill>
                  <a:srgbClr val="334155"/>
                </a:solidFill>
                <a:latin typeface="Inter" pitchFamily="34" charset="0"/>
                <a:ea typeface="Inter" pitchFamily="34" charset="-122"/>
                <a:cs typeface="Inter" pitchFamily="34" charset="-120"/>
              </a:rPr>
              <a:t>long-term health and agility of the software system.</a:t>
            </a:r>
            <a:endParaRPr lang="en-US" sz="950" dirty="0"/>
          </a:p>
        </p:txBody>
      </p:sp>
      <p:sp>
        <p:nvSpPr>
          <p:cNvPr id="7" name="Text 4"/>
          <p:cNvSpPr/>
          <p:nvPr/>
        </p:nvSpPr>
        <p:spPr>
          <a:xfrm>
            <a:off x="428625" y="2716969"/>
            <a:ext cx="3636169" cy="560059"/>
          </a:xfrm>
          <a:prstGeom prst="rect">
            <a:avLst/>
          </a:prstGeom>
          <a:noFill/>
          <a:ln/>
        </p:spPr>
        <p:txBody>
          <a:bodyPr wrap="square" lIns="0" tIns="340233" rIns="0" bIns="0" rtlCol="0" anchor="t">
            <a:spAutoFit/>
          </a:bodyPr>
          <a:lstStyle/>
          <a:p>
            <a:pPr algn="l" indent="0" marL="0">
              <a:lnSpc>
                <a:spcPct val="128000"/>
              </a:lnSpc>
              <a:buNone/>
            </a:pPr>
            <a:r>
              <a:rPr lang="en-US" sz="1200" b="1" dirty="0">
                <a:solidFill>
                  <a:srgbClr val="2563EB"/>
                </a:solidFill>
                <a:latin typeface="Inter Bold" pitchFamily="34" charset="0"/>
                <a:ea typeface="Inter Bold" pitchFamily="34" charset="-122"/>
                <a:cs typeface="Inter Bold" pitchFamily="34" charset="-120"/>
              </a:rPr>
              <a:t>"Code is read 10x more than it is written."</a:t>
            </a:r>
            <a:endParaRPr lang="en-US" sz="1200" dirty="0"/>
          </a:p>
        </p:txBody>
      </p:sp>
      <p:sp>
        <p:nvSpPr>
          <p:cNvPr id="8" name="Shape 5"/>
          <p:cNvSpPr/>
          <p:nvPr/>
        </p:nvSpPr>
        <p:spPr>
          <a:xfrm>
            <a:off x="4493419" y="1134070"/>
            <a:ext cx="4221956" cy="2821781"/>
          </a:xfrm>
          <a:prstGeom prst="rect">
            <a:avLst/>
          </a:prstGeom>
          <a:solidFill>
            <a:srgbClr val="FFFFFF"/>
          </a:solidFill>
          <a:ln w="9144">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4786313" y="1462683"/>
            <a:ext cx="142875" cy="142875"/>
          </a:xfrm>
          <a:prstGeom prst="rect">
            <a:avLst/>
          </a:prstGeom>
        </p:spPr>
      </p:pic>
      <p:sp>
        <p:nvSpPr>
          <p:cNvPr id="10" name="Text 6"/>
          <p:cNvSpPr/>
          <p:nvPr/>
        </p:nvSpPr>
        <p:spPr>
          <a:xfrm>
            <a:off x="5036344" y="1419820"/>
            <a:ext cx="3393281"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Clean Code &amp; SOLID</a:t>
            </a:r>
            <a:endParaRPr lang="en-US" sz="900" dirty="0"/>
          </a:p>
        </p:txBody>
      </p:sp>
      <p:sp>
        <p:nvSpPr>
          <p:cNvPr id="11" name="Text 7"/>
          <p:cNvSpPr/>
          <p:nvPr/>
        </p:nvSpPr>
        <p:spPr>
          <a:xfrm>
            <a:off x="5036344" y="1610916"/>
            <a:ext cx="3393281" cy="257175"/>
          </a:xfrm>
          <a:prstGeom prst="rect">
            <a:avLst/>
          </a:prstGeom>
          <a:noFill/>
          <a:ln/>
        </p:spPr>
        <p:txBody>
          <a:bodyPr wrap="square" lIns="0" tIns="0" rIns="0" bIns="0" rtlCol="0" anchor="t">
            <a:spAutoFit/>
          </a:bodyPr>
          <a:lstStyle/>
          <a:p>
            <a:pPr algn="l" indent="0" marL="0">
              <a:buNone/>
            </a:pPr>
            <a:r>
              <a:rPr lang="en-US" sz="800" dirty="0">
                <a:solidFill>
                  <a:srgbClr val="64748B"/>
                </a:solidFill>
                <a:latin typeface="Inter" pitchFamily="34" charset="0"/>
                <a:ea typeface="Inter" pitchFamily="34" charset="-122"/>
                <a:cs typeface="Inter" pitchFamily="34" charset="-120"/>
              </a:rPr>
              <a:t>Write code for humans to read; ensure single responsibility and loose coupling.</a:t>
            </a:r>
            <a:endParaRPr lang="en-US" sz="800" dirty="0"/>
          </a:p>
        </p:txBody>
      </p:sp>
      <p:pic>
        <p:nvPicPr>
          <p:cNvPr id="12" name="Image 2" descr="preencoded.png">    </p:cNvPr>
          <p:cNvPicPr>
            <a:picLocks noChangeAspect="1"/>
          </p:cNvPicPr>
          <p:nvPr/>
        </p:nvPicPr>
        <p:blipFill>
          <a:blip r:embed="rId3"/>
          <a:stretch>
            <a:fillRect/>
          </a:stretch>
        </p:blipFill>
        <p:spPr>
          <a:xfrm>
            <a:off x="4786313" y="2125266"/>
            <a:ext cx="142875" cy="142875"/>
          </a:xfrm>
          <a:prstGeom prst="rect">
            <a:avLst/>
          </a:prstGeom>
        </p:spPr>
      </p:pic>
      <p:sp>
        <p:nvSpPr>
          <p:cNvPr id="13" name="Text 8"/>
          <p:cNvSpPr/>
          <p:nvPr/>
        </p:nvSpPr>
        <p:spPr>
          <a:xfrm>
            <a:off x="5036344" y="2082403"/>
            <a:ext cx="3252192"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Design for Testability</a:t>
            </a:r>
            <a:endParaRPr lang="en-US" sz="900" dirty="0"/>
          </a:p>
        </p:txBody>
      </p:sp>
      <p:sp>
        <p:nvSpPr>
          <p:cNvPr id="14" name="Text 9"/>
          <p:cNvSpPr/>
          <p:nvPr/>
        </p:nvSpPr>
        <p:spPr>
          <a:xfrm>
            <a:off x="5036344" y="2273498"/>
            <a:ext cx="3252192" cy="128588"/>
          </a:xfrm>
          <a:prstGeom prst="rect">
            <a:avLst/>
          </a:prstGeom>
          <a:noFill/>
          <a:ln/>
        </p:spPr>
        <p:txBody>
          <a:bodyPr wrap="square" lIns="0" tIns="0" rIns="0" bIns="0" rtlCol="0" anchor="t">
            <a:spAutoFit/>
          </a:bodyPr>
          <a:lstStyle/>
          <a:p>
            <a:pPr algn="l" indent="0" marL="0">
              <a:buNone/>
            </a:pPr>
            <a:r>
              <a:rPr lang="en-US" sz="800" dirty="0">
                <a:solidFill>
                  <a:srgbClr val="64748B"/>
                </a:solidFill>
                <a:latin typeface="Inter" pitchFamily="34" charset="0"/>
                <a:ea typeface="Inter" pitchFamily="34" charset="-122"/>
                <a:cs typeface="Inter" pitchFamily="34" charset="-120"/>
              </a:rPr>
              <a:t>If a component is difficult to test, it is likely an architectural flaw.</a:t>
            </a:r>
            <a:endParaRPr lang="en-US" sz="800" dirty="0"/>
          </a:p>
        </p:txBody>
      </p:sp>
      <p:pic>
        <p:nvPicPr>
          <p:cNvPr id="15" name="Image 3" descr="preencoded.png">    </p:cNvPr>
          <p:cNvPicPr>
            <a:picLocks noChangeAspect="1"/>
          </p:cNvPicPr>
          <p:nvPr/>
        </p:nvPicPr>
        <p:blipFill>
          <a:blip r:embed="rId4"/>
          <a:stretch>
            <a:fillRect/>
          </a:stretch>
        </p:blipFill>
        <p:spPr>
          <a:xfrm>
            <a:off x="4786313" y="2659261"/>
            <a:ext cx="142875" cy="142875"/>
          </a:xfrm>
          <a:prstGeom prst="rect">
            <a:avLst/>
          </a:prstGeom>
        </p:spPr>
      </p:pic>
      <p:sp>
        <p:nvSpPr>
          <p:cNvPr id="16" name="Text 10"/>
          <p:cNvSpPr/>
          <p:nvPr/>
        </p:nvSpPr>
        <p:spPr>
          <a:xfrm>
            <a:off x="5036344" y="2616398"/>
            <a:ext cx="3393281"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Peer Reviews</a:t>
            </a:r>
            <a:endParaRPr lang="en-US" sz="900" dirty="0"/>
          </a:p>
        </p:txBody>
      </p:sp>
      <p:sp>
        <p:nvSpPr>
          <p:cNvPr id="17" name="Text 11"/>
          <p:cNvSpPr/>
          <p:nvPr/>
        </p:nvSpPr>
        <p:spPr>
          <a:xfrm>
            <a:off x="5036344" y="2807494"/>
            <a:ext cx="3393281" cy="257175"/>
          </a:xfrm>
          <a:prstGeom prst="rect">
            <a:avLst/>
          </a:prstGeom>
          <a:noFill/>
          <a:ln/>
        </p:spPr>
        <p:txBody>
          <a:bodyPr wrap="square" lIns="0" tIns="0" rIns="0" bIns="0" rtlCol="0" anchor="t">
            <a:spAutoFit/>
          </a:bodyPr>
          <a:lstStyle/>
          <a:p>
            <a:pPr algn="l" indent="0" marL="0">
              <a:buNone/>
            </a:pPr>
            <a:r>
              <a:rPr lang="en-US" sz="800" dirty="0">
                <a:solidFill>
                  <a:srgbClr val="64748B"/>
                </a:solidFill>
                <a:latin typeface="Inter" pitchFamily="34" charset="0"/>
                <a:ea typeface="Inter" pitchFamily="34" charset="-122"/>
                <a:cs typeface="Inter" pitchFamily="34" charset="-120"/>
              </a:rPr>
              <a:t>Collaborative learning sessions for knowledge sharing and consistency.</a:t>
            </a:r>
            <a:endParaRPr lang="en-US" sz="800" dirty="0"/>
          </a:p>
        </p:txBody>
      </p:sp>
      <p:pic>
        <p:nvPicPr>
          <p:cNvPr id="18" name="Image 4" descr="preencoded.png">    </p:cNvPr>
          <p:cNvPicPr>
            <a:picLocks noChangeAspect="1"/>
          </p:cNvPicPr>
          <p:nvPr/>
        </p:nvPicPr>
        <p:blipFill>
          <a:blip r:embed="rId5"/>
          <a:stretch>
            <a:fillRect/>
          </a:stretch>
        </p:blipFill>
        <p:spPr>
          <a:xfrm>
            <a:off x="4786313" y="3321844"/>
            <a:ext cx="142875" cy="142875"/>
          </a:xfrm>
          <a:prstGeom prst="rect">
            <a:avLst/>
          </a:prstGeom>
        </p:spPr>
      </p:pic>
      <p:sp>
        <p:nvSpPr>
          <p:cNvPr id="19" name="Text 12"/>
          <p:cNvSpPr/>
          <p:nvPr/>
        </p:nvSpPr>
        <p:spPr>
          <a:xfrm>
            <a:off x="5036344" y="3278981"/>
            <a:ext cx="3393281"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Debt Remediation</a:t>
            </a:r>
            <a:endParaRPr lang="en-US" sz="900" dirty="0"/>
          </a:p>
        </p:txBody>
      </p:sp>
      <p:sp>
        <p:nvSpPr>
          <p:cNvPr id="20" name="Text 13"/>
          <p:cNvSpPr/>
          <p:nvPr/>
        </p:nvSpPr>
        <p:spPr>
          <a:xfrm>
            <a:off x="5036344" y="3470077"/>
            <a:ext cx="3393281" cy="257175"/>
          </a:xfrm>
          <a:prstGeom prst="rect">
            <a:avLst/>
          </a:prstGeom>
          <a:noFill/>
          <a:ln/>
        </p:spPr>
        <p:txBody>
          <a:bodyPr wrap="square" lIns="0" tIns="0" rIns="0" bIns="0" rtlCol="0" anchor="t">
            <a:spAutoFit/>
          </a:bodyPr>
          <a:lstStyle/>
          <a:p>
            <a:pPr algn="l" indent="0" marL="0">
              <a:buNone/>
            </a:pPr>
            <a:r>
              <a:rPr lang="en-US" sz="800" dirty="0">
                <a:solidFill>
                  <a:srgbClr val="64748B"/>
                </a:solidFill>
                <a:latin typeface="Inter" pitchFamily="34" charset="0"/>
                <a:ea typeface="Inter" pitchFamily="34" charset="-122"/>
                <a:cs typeface="Inter" pitchFamily="34" charset="-120"/>
              </a:rPr>
              <a:t>Document shortcuts and schedule refactoring to prevent stagnation.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05445"/>
          </a:xfrm>
          <a:prstGeom prst="rect">
            <a:avLst/>
          </a:prstGeom>
          <a:solidFill>
            <a:srgbClr val="0F172A"/>
          </a:solidFill>
          <a:ln/>
        </p:spPr>
      </p:sp>
      <p:sp>
        <p:nvSpPr>
          <p:cNvPr id="4" name="Text 1"/>
          <p:cNvSpPr/>
          <p:nvPr/>
        </p:nvSpPr>
        <p:spPr>
          <a:xfrm>
            <a:off x="428625" y="285750"/>
            <a:ext cx="8715375" cy="276820"/>
          </a:xfrm>
          <a:prstGeom prst="rect">
            <a:avLst/>
          </a:prstGeom>
          <a:noFill/>
          <a:ln/>
        </p:spPr>
        <p:txBody>
          <a:bodyPr wrap="square" lIns="0" tIns="0" rIns="0" bIns="0" rtlCol="0" anchor="t">
            <a:spAutoFit/>
          </a:bodyPr>
          <a:lstStyle/>
          <a:p>
            <a:pPr algn="l" indent="0" marL="0">
              <a:buNone/>
            </a:pPr>
            <a:r>
              <a:rPr lang="en-US" sz="1600" b="1" dirty="0">
                <a:solidFill>
                  <a:srgbClr val="F8FAFC"/>
                </a:solidFill>
                <a:latin typeface="Inter Bold" pitchFamily="34" charset="0"/>
                <a:ea typeface="Inter Bold" pitchFamily="34" charset="-122"/>
                <a:cs typeface="Inter Bold" pitchFamily="34" charset="-120"/>
              </a:rPr>
              <a:t>For Testers: Shifting Left and Right</a:t>
            </a:r>
            <a:endParaRPr lang="en-US" sz="1600" dirty="0"/>
          </a:p>
        </p:txBody>
      </p:sp>
      <p:sp>
        <p:nvSpPr>
          <p:cNvPr id="5" name="Text 2"/>
          <p:cNvSpPr/>
          <p:nvPr/>
        </p:nvSpPr>
        <p:spPr>
          <a:xfrm>
            <a:off x="428625" y="1134070"/>
            <a:ext cx="8286750"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334155"/>
                </a:solidFill>
                <a:latin typeface="Inter" pitchFamily="34" charset="0"/>
                <a:ea typeface="Inter" pitchFamily="34" charset="-122"/>
                <a:cs typeface="Inter" pitchFamily="34" charset="-120"/>
              </a:rPr>
              <a:t>The modern testing paradigm extends beyond traditional end-of-cycle quality assurance. Testers have evolved from "gatekeepers" to </a:t>
            </a:r>
            <a:r>
              <a:rPr lang="en-US" sz="900" b="1" dirty="0">
                <a:solidFill>
                  <a:srgbClr val="2563EB"/>
                </a:solidFill>
                <a:latin typeface="Inter Bold" pitchFamily="34" charset="0"/>
                <a:ea typeface="Inter Bold" pitchFamily="34" charset="-122"/>
                <a:cs typeface="Inter Bold" pitchFamily="34" charset="-120"/>
              </a:rPr>
              <a:t>quality advocates</a:t>
            </a:r>
            <a:r>
              <a:rPr lang="en-US" sz="950" dirty="0">
                <a:solidFill>
                  <a:srgbClr val="334155"/>
                </a:solidFill>
                <a:latin typeface="Inter" pitchFamily="34" charset="0"/>
                <a:ea typeface="Inter" pitchFamily="34" charset="-122"/>
                <a:cs typeface="Inter" pitchFamily="34" charset="-120"/>
              </a:rPr>
              <a:t>, integrating testing activities throughout the entire development lifecycle to identify and mitigate defects when they </a:t>
            </a:r>
            <a:r>
              <a:rPr lang="en-US" sz="950" dirty="0">
                <a:solidFill>
                  <a:srgbClr val="334155"/>
                </a:solidFill>
                <a:latin typeface="Inter" pitchFamily="34" charset="0"/>
                <a:ea typeface="Inter" pitchFamily="34" charset="-122"/>
                <a:cs typeface="Inter" pitchFamily="34" charset="-120"/>
              </a:rPr>
              <a:t>are least expensive to fix.</a:t>
            </a:r>
            <a:endParaRPr lang="en-US" sz="950" dirty="0"/>
          </a:p>
        </p:txBody>
      </p:sp>
      <p:sp>
        <p:nvSpPr>
          <p:cNvPr id="6" name="Shape 3"/>
          <p:cNvSpPr/>
          <p:nvPr/>
        </p:nvSpPr>
        <p:spPr>
          <a:xfrm>
            <a:off x="428625" y="2036973"/>
            <a:ext cx="8286750" cy="1794867"/>
          </a:xfrm>
          <a:prstGeom prst="rect">
            <a:avLst/>
          </a:prstGeom>
          <a:solidFill>
            <a:srgbClr val="FFFFFF"/>
          </a:solidFill>
          <a:ln w="9144">
            <a:solidFill>
              <a:srgbClr val="E2E8F0"/>
            </a:solidFill>
            <a:prstDash val="solid"/>
          </a:ln>
        </p:spPr>
      </p:sp>
      <p:sp>
        <p:nvSpPr>
          <p:cNvPr id="7" name="Shape 4"/>
          <p:cNvSpPr/>
          <p:nvPr/>
        </p:nvSpPr>
        <p:spPr>
          <a:xfrm>
            <a:off x="428625" y="2036973"/>
            <a:ext cx="1613874" cy="351830"/>
          </a:xfrm>
          <a:prstGeom prst="rect">
            <a:avLst/>
          </a:prstGeom>
          <a:solidFill>
            <a:srgbClr val="0F172A"/>
          </a:solidFill>
          <a:ln/>
        </p:spPr>
      </p:sp>
      <p:sp>
        <p:nvSpPr>
          <p:cNvPr id="8" name="Text 5"/>
          <p:cNvSpPr/>
          <p:nvPr/>
        </p:nvSpPr>
        <p:spPr>
          <a:xfrm>
            <a:off x="428625" y="2036973"/>
            <a:ext cx="1613874" cy="351830"/>
          </a:xfrm>
          <a:prstGeom prst="rect">
            <a:avLst/>
          </a:prstGeom>
          <a:noFill/>
          <a:ln/>
        </p:spPr>
        <p:txBody>
          <a:bodyPr wrap="square" lIns="127508" tIns="127508" rIns="127508" bIns="127508" rtlCol="0" anchor="ctr">
            <a:spAutoFit/>
          </a:bodyPr>
          <a:lstStyle/>
          <a:p>
            <a:pPr algn="l" indent="0" marL="0">
              <a:buNone/>
            </a:pPr>
            <a:r>
              <a:rPr lang="en-US" sz="800" b="1" dirty="0">
                <a:solidFill>
                  <a:srgbClr val="F8FAFC"/>
                </a:solidFill>
                <a:latin typeface="Inter Bold" pitchFamily="34" charset="0"/>
                <a:ea typeface="Inter Bold" pitchFamily="34" charset="-122"/>
                <a:cs typeface="Inter Bold" pitchFamily="34" charset="-120"/>
              </a:rPr>
              <a:t>Testing Strategy</a:t>
            </a:r>
            <a:endParaRPr lang="en-US" sz="800" dirty="0"/>
          </a:p>
        </p:txBody>
      </p:sp>
      <p:sp>
        <p:nvSpPr>
          <p:cNvPr id="9" name="Shape 6"/>
          <p:cNvSpPr/>
          <p:nvPr/>
        </p:nvSpPr>
        <p:spPr>
          <a:xfrm>
            <a:off x="2042499" y="2036973"/>
            <a:ext cx="2444837" cy="351830"/>
          </a:xfrm>
          <a:prstGeom prst="rect">
            <a:avLst/>
          </a:prstGeom>
          <a:solidFill>
            <a:srgbClr val="0F172A"/>
          </a:solidFill>
          <a:ln/>
        </p:spPr>
      </p:sp>
      <p:sp>
        <p:nvSpPr>
          <p:cNvPr id="10" name="Text 7"/>
          <p:cNvSpPr/>
          <p:nvPr/>
        </p:nvSpPr>
        <p:spPr>
          <a:xfrm>
            <a:off x="2042499" y="2036973"/>
            <a:ext cx="2444837" cy="351830"/>
          </a:xfrm>
          <a:prstGeom prst="rect">
            <a:avLst/>
          </a:prstGeom>
          <a:noFill/>
          <a:ln/>
        </p:spPr>
        <p:txBody>
          <a:bodyPr wrap="square" lIns="127508" tIns="127508" rIns="127508" bIns="127508" rtlCol="0" anchor="ctr">
            <a:spAutoFit/>
          </a:bodyPr>
          <a:lstStyle/>
          <a:p>
            <a:pPr algn="l" indent="0" marL="0">
              <a:buNone/>
            </a:pPr>
            <a:r>
              <a:rPr lang="en-US" sz="800" b="1" dirty="0">
                <a:solidFill>
                  <a:srgbClr val="F8FAFC"/>
                </a:solidFill>
                <a:latin typeface="Inter Bold" pitchFamily="34" charset="0"/>
                <a:ea typeface="Inter Bold" pitchFamily="34" charset="-122"/>
                <a:cs typeface="Inter Bold" pitchFamily="34" charset="-120"/>
              </a:rPr>
              <a:t>Primary Focus</a:t>
            </a:r>
            <a:endParaRPr lang="en-US" sz="800" dirty="0"/>
          </a:p>
        </p:txBody>
      </p:sp>
      <p:sp>
        <p:nvSpPr>
          <p:cNvPr id="11" name="Shape 8"/>
          <p:cNvSpPr/>
          <p:nvPr/>
        </p:nvSpPr>
        <p:spPr>
          <a:xfrm>
            <a:off x="4487335" y="2036973"/>
            <a:ext cx="4228040" cy="351830"/>
          </a:xfrm>
          <a:prstGeom prst="rect">
            <a:avLst/>
          </a:prstGeom>
          <a:solidFill>
            <a:srgbClr val="0F172A"/>
          </a:solidFill>
          <a:ln/>
        </p:spPr>
      </p:sp>
      <p:sp>
        <p:nvSpPr>
          <p:cNvPr id="12" name="Text 9"/>
          <p:cNvSpPr/>
          <p:nvPr/>
        </p:nvSpPr>
        <p:spPr>
          <a:xfrm>
            <a:off x="4487335" y="2036973"/>
            <a:ext cx="4228040" cy="351830"/>
          </a:xfrm>
          <a:prstGeom prst="rect">
            <a:avLst/>
          </a:prstGeom>
          <a:noFill/>
          <a:ln/>
        </p:spPr>
        <p:txBody>
          <a:bodyPr wrap="square" lIns="127508" tIns="127508" rIns="127508" bIns="127508" rtlCol="0" anchor="ctr">
            <a:spAutoFit/>
          </a:bodyPr>
          <a:lstStyle/>
          <a:p>
            <a:pPr algn="l" indent="0" marL="0">
              <a:buNone/>
            </a:pPr>
            <a:r>
              <a:rPr lang="en-US" sz="800" b="1" dirty="0">
                <a:solidFill>
                  <a:srgbClr val="F8FAFC"/>
                </a:solidFill>
                <a:latin typeface="Inter Bold" pitchFamily="34" charset="0"/>
                <a:ea typeface="Inter Bold" pitchFamily="34" charset="-122"/>
                <a:cs typeface="Inter Bold" pitchFamily="34" charset="-120"/>
              </a:rPr>
              <a:t>Key Activities</a:t>
            </a:r>
            <a:endParaRPr lang="en-US" sz="800" dirty="0"/>
          </a:p>
        </p:txBody>
      </p:sp>
      <p:sp>
        <p:nvSpPr>
          <p:cNvPr id="13" name="Text 10"/>
          <p:cNvSpPr/>
          <p:nvPr/>
        </p:nvSpPr>
        <p:spPr>
          <a:xfrm>
            <a:off x="428625" y="2388803"/>
            <a:ext cx="1613874" cy="355402"/>
          </a:xfrm>
          <a:prstGeom prst="rect">
            <a:avLst/>
          </a:prstGeom>
          <a:noFill/>
          <a:ln/>
        </p:spPr>
        <p:txBody>
          <a:bodyPr wrap="square" lIns="127508" tIns="127508" rIns="127508" bIns="127508" rtlCol="0" anchor="t">
            <a:spAutoFit/>
          </a:bodyPr>
          <a:lstStyle/>
          <a:p>
            <a:pPr algn="l" indent="0" marL="0">
              <a:buNone/>
            </a:pPr>
            <a:r>
              <a:rPr lang="en-US" sz="800" b="1" dirty="0">
                <a:solidFill>
                  <a:srgbClr val="2563EB"/>
                </a:solidFill>
                <a:latin typeface="Inter Bold" pitchFamily="34" charset="0"/>
                <a:ea typeface="Inter Bold" pitchFamily="34" charset="-122"/>
                <a:cs typeface="Inter Bold" pitchFamily="34" charset="-120"/>
              </a:rPr>
              <a:t>Shift-Left Testing</a:t>
            </a:r>
            <a:endParaRPr lang="en-US" sz="800" dirty="0"/>
          </a:p>
        </p:txBody>
      </p:sp>
      <p:sp>
        <p:nvSpPr>
          <p:cNvPr id="14" name="Text 11"/>
          <p:cNvSpPr/>
          <p:nvPr/>
        </p:nvSpPr>
        <p:spPr>
          <a:xfrm>
            <a:off x="2042499" y="2388803"/>
            <a:ext cx="2444837" cy="355402"/>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Early defect detection and prevention.</a:t>
            </a:r>
            <a:endParaRPr lang="en-US" sz="850" dirty="0"/>
          </a:p>
        </p:txBody>
      </p:sp>
      <p:sp>
        <p:nvSpPr>
          <p:cNvPr id="15" name="Text 12"/>
          <p:cNvSpPr/>
          <p:nvPr/>
        </p:nvSpPr>
        <p:spPr>
          <a:xfrm>
            <a:off x="4487335" y="2388803"/>
            <a:ext cx="4228040" cy="355402"/>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Requirements review, static code analysis, unit testing, TDD.</a:t>
            </a:r>
            <a:endParaRPr lang="en-US" sz="850" dirty="0"/>
          </a:p>
        </p:txBody>
      </p:sp>
      <p:sp>
        <p:nvSpPr>
          <p:cNvPr id="16" name="Text 13"/>
          <p:cNvSpPr/>
          <p:nvPr/>
        </p:nvSpPr>
        <p:spPr>
          <a:xfrm>
            <a:off x="428625" y="2744205"/>
            <a:ext cx="1613874" cy="358973"/>
          </a:xfrm>
          <a:prstGeom prst="rect">
            <a:avLst/>
          </a:prstGeom>
          <a:noFill/>
          <a:ln/>
        </p:spPr>
        <p:txBody>
          <a:bodyPr wrap="square" lIns="127508" tIns="127508" rIns="127508" bIns="127508" rtlCol="0" anchor="t">
            <a:spAutoFit/>
          </a:bodyPr>
          <a:lstStyle/>
          <a:p>
            <a:pPr algn="l" indent="0" marL="0">
              <a:buNone/>
            </a:pPr>
            <a:r>
              <a:rPr lang="en-US" sz="800" b="1" dirty="0">
                <a:solidFill>
                  <a:srgbClr val="2563EB"/>
                </a:solidFill>
                <a:latin typeface="Inter Bold" pitchFamily="34" charset="0"/>
                <a:ea typeface="Inter Bold" pitchFamily="34" charset="-122"/>
                <a:cs typeface="Inter Bold" pitchFamily="34" charset="-120"/>
              </a:rPr>
              <a:t>Automation</a:t>
            </a:r>
            <a:endParaRPr lang="en-US" sz="800" dirty="0"/>
          </a:p>
        </p:txBody>
      </p:sp>
      <p:sp>
        <p:nvSpPr>
          <p:cNvPr id="17" name="Text 14"/>
          <p:cNvSpPr/>
          <p:nvPr/>
        </p:nvSpPr>
        <p:spPr>
          <a:xfrm>
            <a:off x="2042499" y="2744205"/>
            <a:ext cx="2444837" cy="358973"/>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Efficient and repeatable execution.</a:t>
            </a:r>
            <a:endParaRPr lang="en-US" sz="850" dirty="0"/>
          </a:p>
        </p:txBody>
      </p:sp>
      <p:sp>
        <p:nvSpPr>
          <p:cNvPr id="18" name="Text 15"/>
          <p:cNvSpPr/>
          <p:nvPr/>
        </p:nvSpPr>
        <p:spPr>
          <a:xfrm>
            <a:off x="4487335" y="2744205"/>
            <a:ext cx="4228040" cy="358973"/>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Automated unit, integration, API, and UI tests; CI/CD integration.</a:t>
            </a:r>
            <a:endParaRPr lang="en-US" sz="850" dirty="0"/>
          </a:p>
        </p:txBody>
      </p:sp>
      <p:sp>
        <p:nvSpPr>
          <p:cNvPr id="19" name="Text 16"/>
          <p:cNvSpPr/>
          <p:nvPr/>
        </p:nvSpPr>
        <p:spPr>
          <a:xfrm>
            <a:off x="428625" y="3103178"/>
            <a:ext cx="1613874" cy="358973"/>
          </a:xfrm>
          <a:prstGeom prst="rect">
            <a:avLst/>
          </a:prstGeom>
          <a:noFill/>
          <a:ln/>
        </p:spPr>
        <p:txBody>
          <a:bodyPr wrap="square" lIns="127508" tIns="127508" rIns="127508" bIns="127508" rtlCol="0" anchor="t">
            <a:spAutoFit/>
          </a:bodyPr>
          <a:lstStyle/>
          <a:p>
            <a:pPr algn="l" indent="0" marL="0">
              <a:buNone/>
            </a:pPr>
            <a:r>
              <a:rPr lang="en-US" sz="800" b="1" dirty="0">
                <a:solidFill>
                  <a:srgbClr val="2563EB"/>
                </a:solidFill>
                <a:latin typeface="Inter Bold" pitchFamily="34" charset="0"/>
                <a:ea typeface="Inter Bold" pitchFamily="34" charset="-122"/>
                <a:cs typeface="Inter Bold" pitchFamily="34" charset="-120"/>
              </a:rPr>
              <a:t>Test Data Management</a:t>
            </a:r>
            <a:endParaRPr lang="en-US" sz="800" dirty="0"/>
          </a:p>
        </p:txBody>
      </p:sp>
      <p:sp>
        <p:nvSpPr>
          <p:cNvPr id="20" name="Text 17"/>
          <p:cNvSpPr/>
          <p:nvPr/>
        </p:nvSpPr>
        <p:spPr>
          <a:xfrm>
            <a:off x="2042499" y="3103178"/>
            <a:ext cx="2444837" cy="358973"/>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Realistic and representative datasets.</a:t>
            </a:r>
            <a:endParaRPr lang="en-US" sz="850" dirty="0"/>
          </a:p>
        </p:txBody>
      </p:sp>
      <p:sp>
        <p:nvSpPr>
          <p:cNvPr id="21" name="Text 18"/>
          <p:cNvSpPr/>
          <p:nvPr/>
        </p:nvSpPr>
        <p:spPr>
          <a:xfrm>
            <a:off x="4487335" y="3103178"/>
            <a:ext cx="4228040" cy="358973"/>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Data anonymization, synthetic data generation, data subsetting.</a:t>
            </a:r>
            <a:endParaRPr lang="en-US" sz="850" dirty="0"/>
          </a:p>
        </p:txBody>
      </p:sp>
      <p:sp>
        <p:nvSpPr>
          <p:cNvPr id="22" name="Text 19"/>
          <p:cNvSpPr/>
          <p:nvPr/>
        </p:nvSpPr>
        <p:spPr>
          <a:xfrm>
            <a:off x="428625" y="3462151"/>
            <a:ext cx="1613874" cy="358973"/>
          </a:xfrm>
          <a:prstGeom prst="rect">
            <a:avLst/>
          </a:prstGeom>
          <a:noFill/>
          <a:ln/>
        </p:spPr>
        <p:txBody>
          <a:bodyPr wrap="square" lIns="127508" tIns="127508" rIns="127508" bIns="127508" rtlCol="0" anchor="t">
            <a:spAutoFit/>
          </a:bodyPr>
          <a:lstStyle/>
          <a:p>
            <a:pPr algn="l" indent="0" marL="0">
              <a:buNone/>
            </a:pPr>
            <a:r>
              <a:rPr lang="en-US" sz="800" b="1" dirty="0">
                <a:solidFill>
                  <a:srgbClr val="2563EB"/>
                </a:solidFill>
                <a:latin typeface="Inter Bold" pitchFamily="34" charset="0"/>
                <a:ea typeface="Inter Bold" pitchFamily="34" charset="-122"/>
                <a:cs typeface="Inter Bold" pitchFamily="34" charset="-120"/>
              </a:rPr>
              <a:t>Shift-Right Testing</a:t>
            </a:r>
            <a:endParaRPr lang="en-US" sz="800" dirty="0"/>
          </a:p>
        </p:txBody>
      </p:sp>
      <p:sp>
        <p:nvSpPr>
          <p:cNvPr id="23" name="Text 20"/>
          <p:cNvSpPr/>
          <p:nvPr/>
        </p:nvSpPr>
        <p:spPr>
          <a:xfrm>
            <a:off x="2042499" y="3462151"/>
            <a:ext cx="2444837" cy="358973"/>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Post-release validation and resilience.</a:t>
            </a:r>
            <a:endParaRPr lang="en-US" sz="850" dirty="0"/>
          </a:p>
        </p:txBody>
      </p:sp>
      <p:sp>
        <p:nvSpPr>
          <p:cNvPr id="24" name="Text 21"/>
          <p:cNvSpPr/>
          <p:nvPr/>
        </p:nvSpPr>
        <p:spPr>
          <a:xfrm>
            <a:off x="4487335" y="3462151"/>
            <a:ext cx="4228040" cy="358973"/>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Production monitoring, A/B testing, chaos engineering, observability.</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05445"/>
          </a:xfrm>
          <a:prstGeom prst="rect">
            <a:avLst/>
          </a:prstGeom>
          <a:solidFill>
            <a:srgbClr val="0F172A"/>
          </a:solidFill>
          <a:ln/>
        </p:spPr>
      </p:sp>
      <p:sp>
        <p:nvSpPr>
          <p:cNvPr id="4" name="Text 1"/>
          <p:cNvSpPr/>
          <p:nvPr/>
        </p:nvSpPr>
        <p:spPr>
          <a:xfrm>
            <a:off x="428625" y="285750"/>
            <a:ext cx="8715375" cy="276820"/>
          </a:xfrm>
          <a:prstGeom prst="rect">
            <a:avLst/>
          </a:prstGeom>
          <a:noFill/>
          <a:ln/>
        </p:spPr>
        <p:txBody>
          <a:bodyPr wrap="square" lIns="0" tIns="0" rIns="0" bIns="0" rtlCol="0" anchor="t">
            <a:spAutoFit/>
          </a:bodyPr>
          <a:lstStyle/>
          <a:p>
            <a:pPr algn="l" indent="0" marL="0">
              <a:buNone/>
            </a:pPr>
            <a:r>
              <a:rPr lang="en-US" sz="1600" b="1" dirty="0">
                <a:solidFill>
                  <a:srgbClr val="F8FAFC"/>
                </a:solidFill>
                <a:latin typeface="Inter Bold" pitchFamily="34" charset="0"/>
                <a:ea typeface="Inter Bold" pitchFamily="34" charset="-122"/>
                <a:cs typeface="Inter Bold" pitchFamily="34" charset="-120"/>
              </a:rPr>
              <a:t>The Architect’s Secret Sauce: The Pipeline</a:t>
            </a:r>
            <a:endParaRPr lang="en-US" sz="1600" dirty="0"/>
          </a:p>
        </p:txBody>
      </p:sp>
      <p:sp>
        <p:nvSpPr>
          <p:cNvPr id="5" name="Text 2"/>
          <p:cNvSpPr/>
          <p:nvPr/>
        </p:nvSpPr>
        <p:spPr>
          <a:xfrm>
            <a:off x="428625" y="1134070"/>
            <a:ext cx="8286750"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334155"/>
                </a:solidFill>
                <a:latin typeface="Inter" pitchFamily="34" charset="0"/>
                <a:ea typeface="Inter" pitchFamily="34" charset="-122"/>
                <a:cs typeface="Inter" pitchFamily="34" charset="-120"/>
              </a:rPr>
              <a:t>A robust </a:t>
            </a:r>
            <a:r>
              <a:rPr lang="en-US" sz="900" b="1" dirty="0">
                <a:solidFill>
                  <a:srgbClr val="2563EB"/>
                </a:solidFill>
                <a:latin typeface="Inter Bold" pitchFamily="34" charset="0"/>
                <a:ea typeface="Inter Bold" pitchFamily="34" charset="-122"/>
                <a:cs typeface="Inter Bold" pitchFamily="34" charset="-120"/>
              </a:rPr>
              <a:t>CI/CD pipeline</a:t>
            </a:r>
            <a:r>
              <a:rPr lang="en-US" sz="950" dirty="0">
                <a:solidFill>
                  <a:srgbClr val="334155"/>
                </a:solidFill>
                <a:latin typeface="Inter" pitchFamily="34" charset="0"/>
                <a:ea typeface="Inter" pitchFamily="34" charset="-122"/>
                <a:cs typeface="Inter" pitchFamily="34" charset="-120"/>
              </a:rPr>
              <a:t> is the cornerstone of modern software delivery, acting as the heartbeat of efficient development. It minimizes </a:t>
            </a:r>
            <a:r>
              <a:rPr lang="en-US" sz="950" dirty="0">
                <a:solidFill>
                  <a:srgbClr val="334155"/>
                </a:solidFill>
                <a:latin typeface="Inter" pitchFamily="34" charset="0"/>
                <a:ea typeface="Inter" pitchFamily="34" charset="-122"/>
                <a:cs typeface="Inter" pitchFamily="34" charset="-120"/>
              </a:rPr>
              <a:t>human error, accelerates feedback loops, and ensures consistent deployments through automation.</a:t>
            </a:r>
            <a:endParaRPr lang="en-US" sz="950" dirty="0"/>
          </a:p>
        </p:txBody>
      </p:sp>
      <p:sp>
        <p:nvSpPr>
          <p:cNvPr id="6" name="Shape 3"/>
          <p:cNvSpPr/>
          <p:nvPr/>
        </p:nvSpPr>
        <p:spPr>
          <a:xfrm>
            <a:off x="428625" y="2045568"/>
            <a:ext cx="2666991" cy="2000250"/>
          </a:xfrm>
          <a:prstGeom prst="rect">
            <a:avLst/>
          </a:prstGeom>
          <a:solidFill>
            <a:srgbClr val="FFFFFF"/>
          </a:solidFill>
          <a:ln w="9144">
            <a:solidFill>
              <a:srgbClr val="E2E8F0"/>
            </a:solidFill>
            <a:prstDash val="solid"/>
          </a:ln>
        </p:spPr>
      </p:sp>
      <p:pic>
        <p:nvPicPr>
          <p:cNvPr id="7" name="Image 1" descr="preencoded.png">    </p:cNvPr>
          <p:cNvPicPr>
            <a:picLocks noChangeAspect="1"/>
          </p:cNvPicPr>
          <p:nvPr/>
        </p:nvPicPr>
        <p:blipFill>
          <a:blip r:embed="rId2"/>
          <a:stretch>
            <a:fillRect/>
          </a:stretch>
        </p:blipFill>
        <p:spPr>
          <a:xfrm>
            <a:off x="1596628" y="2284884"/>
            <a:ext cx="321469" cy="257175"/>
          </a:xfrm>
          <a:prstGeom prst="rect">
            <a:avLst/>
          </a:prstGeom>
        </p:spPr>
      </p:pic>
      <p:sp>
        <p:nvSpPr>
          <p:cNvPr id="8" name="Text 4"/>
          <p:cNvSpPr/>
          <p:nvPr/>
        </p:nvSpPr>
        <p:spPr>
          <a:xfrm>
            <a:off x="571500" y="2715295"/>
            <a:ext cx="2371725" cy="155377"/>
          </a:xfrm>
          <a:prstGeom prst="rect">
            <a:avLst/>
          </a:prstGeom>
          <a:noFill/>
          <a:ln/>
        </p:spPr>
        <p:txBody>
          <a:bodyPr wrap="square" lIns="0" tIns="0" rIns="0" bIns="0" rtlCol="0" anchor="t">
            <a:spAutoFit/>
          </a:bodyPr>
          <a:lstStyle/>
          <a:p>
            <a:pPr algn="ctr" indent="0" marL="0">
              <a:buNone/>
            </a:pPr>
            <a:r>
              <a:rPr lang="en-US" sz="900" b="1" dirty="0">
                <a:solidFill>
                  <a:srgbClr val="0F172A"/>
                </a:solidFill>
                <a:latin typeface="Inter Bold" pitchFamily="34" charset="0"/>
                <a:ea typeface="Inter Bold" pitchFamily="34" charset="-122"/>
                <a:cs typeface="Inter Bold" pitchFamily="34" charset="-120"/>
              </a:rPr>
              <a:t>Automated Testing</a:t>
            </a:r>
            <a:endParaRPr lang="en-US" sz="900" dirty="0"/>
          </a:p>
        </p:txBody>
      </p:sp>
      <p:sp>
        <p:nvSpPr>
          <p:cNvPr id="9" name="Text 5"/>
          <p:cNvSpPr/>
          <p:nvPr/>
        </p:nvSpPr>
        <p:spPr>
          <a:xfrm>
            <a:off x="571500" y="2977828"/>
            <a:ext cx="2371725" cy="450056"/>
          </a:xfrm>
          <a:prstGeom prst="rect">
            <a:avLst/>
          </a:prstGeom>
          <a:noFill/>
          <a:ln/>
        </p:spPr>
        <p:txBody>
          <a:bodyPr wrap="square" lIns="0" tIns="0" rIns="0" bIns="0" rtlCol="0" anchor="t">
            <a:spAutoFit/>
          </a:bodyPr>
          <a:lstStyle/>
          <a:p>
            <a:pPr algn="ctr" indent="0" marL="0">
              <a:lnSpc>
                <a:spcPct val="120000"/>
              </a:lnSpc>
              <a:buNone/>
            </a:pPr>
            <a:r>
              <a:rPr lang="en-US" sz="750" dirty="0">
                <a:solidFill>
                  <a:srgbClr val="475569"/>
                </a:solidFill>
                <a:latin typeface="Inter" pitchFamily="34" charset="0"/>
                <a:ea typeface="Inter" pitchFamily="34" charset="-122"/>
                <a:cs typeface="Inter" pitchFamily="34" charset="-120"/>
              </a:rPr>
              <a:t>Comprehensive unit, integration, and end-to-end tests executed at every commit to ensure immediate feedback.</a:t>
            </a:r>
            <a:endParaRPr lang="en-US" sz="750" dirty="0"/>
          </a:p>
        </p:txBody>
      </p:sp>
      <p:sp>
        <p:nvSpPr>
          <p:cNvPr id="10" name="Shape 6"/>
          <p:cNvSpPr/>
          <p:nvPr/>
        </p:nvSpPr>
        <p:spPr>
          <a:xfrm>
            <a:off x="3228975" y="2045568"/>
            <a:ext cx="2671763" cy="2000250"/>
          </a:xfrm>
          <a:prstGeom prst="rect">
            <a:avLst/>
          </a:prstGeom>
          <a:solidFill>
            <a:srgbClr val="FFFFFF"/>
          </a:solidFill>
          <a:ln w="9144">
            <a:solidFill>
              <a:srgbClr val="E2E8F0"/>
            </a:solidFill>
            <a:prstDash val="solid"/>
          </a:ln>
        </p:spPr>
      </p:sp>
      <p:pic>
        <p:nvPicPr>
          <p:cNvPr id="11" name="Image 2" descr="preencoded.png">    </p:cNvPr>
          <p:cNvPicPr>
            <a:picLocks noChangeAspect="1"/>
          </p:cNvPicPr>
          <p:nvPr/>
        </p:nvPicPr>
        <p:blipFill>
          <a:blip r:embed="rId3"/>
          <a:stretch>
            <a:fillRect/>
          </a:stretch>
        </p:blipFill>
        <p:spPr>
          <a:xfrm>
            <a:off x="4436269" y="2284884"/>
            <a:ext cx="257175" cy="257175"/>
          </a:xfrm>
          <a:prstGeom prst="rect">
            <a:avLst/>
          </a:prstGeom>
        </p:spPr>
      </p:pic>
      <p:sp>
        <p:nvSpPr>
          <p:cNvPr id="12" name="Text 7"/>
          <p:cNvSpPr/>
          <p:nvPr/>
        </p:nvSpPr>
        <p:spPr>
          <a:xfrm>
            <a:off x="3376622" y="2715295"/>
            <a:ext cx="2376497" cy="155377"/>
          </a:xfrm>
          <a:prstGeom prst="rect">
            <a:avLst/>
          </a:prstGeom>
          <a:noFill/>
          <a:ln/>
        </p:spPr>
        <p:txBody>
          <a:bodyPr wrap="square" lIns="0" tIns="0" rIns="0" bIns="0" rtlCol="0" anchor="t">
            <a:spAutoFit/>
          </a:bodyPr>
          <a:lstStyle/>
          <a:p>
            <a:pPr algn="ctr" indent="0" marL="0">
              <a:buNone/>
            </a:pPr>
            <a:r>
              <a:rPr lang="en-US" sz="900" b="1" dirty="0">
                <a:solidFill>
                  <a:srgbClr val="0F172A"/>
                </a:solidFill>
                <a:latin typeface="Inter Bold" pitchFamily="34" charset="0"/>
                <a:ea typeface="Inter Bold" pitchFamily="34" charset="-122"/>
                <a:cs typeface="Inter Bold" pitchFamily="34" charset="-120"/>
              </a:rPr>
              <a:t>Observability</a:t>
            </a:r>
            <a:endParaRPr lang="en-US" sz="900" dirty="0"/>
          </a:p>
        </p:txBody>
      </p:sp>
      <p:sp>
        <p:nvSpPr>
          <p:cNvPr id="13" name="Text 8"/>
          <p:cNvSpPr/>
          <p:nvPr/>
        </p:nvSpPr>
        <p:spPr>
          <a:xfrm>
            <a:off x="3376622" y="2977828"/>
            <a:ext cx="2376497" cy="300038"/>
          </a:xfrm>
          <a:prstGeom prst="rect">
            <a:avLst/>
          </a:prstGeom>
          <a:noFill/>
          <a:ln/>
        </p:spPr>
        <p:txBody>
          <a:bodyPr wrap="square" lIns="0" tIns="0" rIns="0" bIns="0" rtlCol="0" anchor="t">
            <a:spAutoFit/>
          </a:bodyPr>
          <a:lstStyle/>
          <a:p>
            <a:pPr algn="ctr" indent="0" marL="0">
              <a:lnSpc>
                <a:spcPct val="120000"/>
              </a:lnSpc>
              <a:buNone/>
            </a:pPr>
            <a:r>
              <a:rPr lang="en-US" sz="750" dirty="0">
                <a:solidFill>
                  <a:srgbClr val="475569"/>
                </a:solidFill>
                <a:latin typeface="Inter" pitchFamily="34" charset="0"/>
                <a:ea typeface="Inter" pitchFamily="34" charset="-122"/>
                <a:cs typeface="Inter" pitchFamily="34" charset="-120"/>
              </a:rPr>
              <a:t>Integrated logging, metrics, and tracing to provide deep insights into system behavior in real-time.</a:t>
            </a:r>
            <a:endParaRPr lang="en-US" sz="750" dirty="0"/>
          </a:p>
        </p:txBody>
      </p:sp>
      <p:sp>
        <p:nvSpPr>
          <p:cNvPr id="14" name="Shape 9"/>
          <p:cNvSpPr/>
          <p:nvPr/>
        </p:nvSpPr>
        <p:spPr>
          <a:xfrm>
            <a:off x="6038869" y="2045568"/>
            <a:ext cx="2676534" cy="2000250"/>
          </a:xfrm>
          <a:prstGeom prst="rect">
            <a:avLst/>
          </a:prstGeom>
          <a:solidFill>
            <a:srgbClr val="FFFFFF"/>
          </a:solidFill>
          <a:ln w="9144">
            <a:solidFill>
              <a:srgbClr val="E2E8F0"/>
            </a:solidFill>
            <a:prstDash val="solid"/>
          </a:ln>
        </p:spPr>
      </p:sp>
      <p:pic>
        <p:nvPicPr>
          <p:cNvPr id="15" name="Image 3" descr="preencoded.png">    </p:cNvPr>
          <p:cNvPicPr>
            <a:picLocks noChangeAspect="1"/>
          </p:cNvPicPr>
          <p:nvPr/>
        </p:nvPicPr>
        <p:blipFill>
          <a:blip r:embed="rId4"/>
          <a:stretch>
            <a:fillRect/>
          </a:stretch>
        </p:blipFill>
        <p:spPr>
          <a:xfrm>
            <a:off x="7253250" y="2284884"/>
            <a:ext cx="257175" cy="257175"/>
          </a:xfrm>
          <a:prstGeom prst="rect">
            <a:avLst/>
          </a:prstGeom>
        </p:spPr>
      </p:pic>
      <p:sp>
        <p:nvSpPr>
          <p:cNvPr id="16" name="Text 10"/>
          <p:cNvSpPr/>
          <p:nvPr/>
        </p:nvSpPr>
        <p:spPr>
          <a:xfrm>
            <a:off x="6191231" y="2715295"/>
            <a:ext cx="2381241" cy="155377"/>
          </a:xfrm>
          <a:prstGeom prst="rect">
            <a:avLst/>
          </a:prstGeom>
          <a:noFill/>
          <a:ln/>
        </p:spPr>
        <p:txBody>
          <a:bodyPr wrap="square" lIns="0" tIns="0" rIns="0" bIns="0" rtlCol="0" anchor="t">
            <a:spAutoFit/>
          </a:bodyPr>
          <a:lstStyle/>
          <a:p>
            <a:pPr algn="ctr" indent="0" marL="0">
              <a:buNone/>
            </a:pPr>
            <a:r>
              <a:rPr lang="en-US" sz="900" b="1" dirty="0">
                <a:solidFill>
                  <a:srgbClr val="0F172A"/>
                </a:solidFill>
                <a:latin typeface="Inter Bold" pitchFamily="34" charset="0"/>
                <a:ea typeface="Inter Bold" pitchFamily="34" charset="-122"/>
                <a:cs typeface="Inter Bold" pitchFamily="34" charset="-120"/>
              </a:rPr>
              <a:t>Reproducibility</a:t>
            </a:r>
            <a:endParaRPr lang="en-US" sz="900" dirty="0"/>
          </a:p>
        </p:txBody>
      </p:sp>
      <p:sp>
        <p:nvSpPr>
          <p:cNvPr id="17" name="Text 11"/>
          <p:cNvSpPr/>
          <p:nvPr/>
        </p:nvSpPr>
        <p:spPr>
          <a:xfrm>
            <a:off x="6191231" y="2977828"/>
            <a:ext cx="2381241" cy="450056"/>
          </a:xfrm>
          <a:prstGeom prst="rect">
            <a:avLst/>
          </a:prstGeom>
          <a:noFill/>
          <a:ln/>
        </p:spPr>
        <p:txBody>
          <a:bodyPr wrap="square" lIns="0" tIns="0" rIns="0" bIns="0" rtlCol="0" anchor="t">
            <a:spAutoFit/>
          </a:bodyPr>
          <a:lstStyle/>
          <a:p>
            <a:pPr algn="ctr" indent="0" marL="0">
              <a:lnSpc>
                <a:spcPct val="120000"/>
              </a:lnSpc>
              <a:buNone/>
            </a:pPr>
            <a:r>
              <a:rPr lang="en-US" sz="750" dirty="0">
                <a:solidFill>
                  <a:srgbClr val="475569"/>
                </a:solidFill>
                <a:latin typeface="Inter" pitchFamily="34" charset="0"/>
                <a:ea typeface="Inter" pitchFamily="34" charset="-122"/>
                <a:cs typeface="Inter" pitchFamily="34" charset="-120"/>
              </a:rPr>
              <a:t>Ensuring that development, staging, and production environments are identical through Infrastructure as Code (IaC).</a:t>
            </a:r>
            <a:endParaRPr lang="en-US" sz="750" dirty="0"/>
          </a:p>
        </p:txBody>
      </p:sp>
      <p:sp>
        <p:nvSpPr>
          <p:cNvPr id="18" name="Text 12"/>
          <p:cNvSpPr/>
          <p:nvPr/>
        </p:nvSpPr>
        <p:spPr>
          <a:xfrm>
            <a:off x="428625" y="4045818"/>
            <a:ext cx="8286750" cy="423267"/>
          </a:xfrm>
          <a:prstGeom prst="rect">
            <a:avLst/>
          </a:prstGeom>
          <a:noFill/>
          <a:ln/>
        </p:spPr>
        <p:txBody>
          <a:bodyPr wrap="square" lIns="0" tIns="340233" rIns="0" bIns="0" rtlCol="0" anchor="t">
            <a:spAutoFit/>
          </a:bodyPr>
          <a:lstStyle/>
          <a:p>
            <a:pPr algn="ctr" indent="0" marL="0">
              <a:buNone/>
            </a:pPr>
            <a:r>
              <a:rPr lang="en-US" sz="850" i="1" dirty="0">
                <a:solidFill>
                  <a:srgbClr val="64748B"/>
                </a:solidFill>
                <a:latin typeface="Inter" pitchFamily="34" charset="0"/>
                <a:ea typeface="Inter" pitchFamily="34" charset="-122"/>
                <a:cs typeface="Inter" pitchFamily="34" charset="-120"/>
              </a:rPr>
              <a:t>"Modern architecture is inseparable from infrastructure; automation is the only path to scale."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05445"/>
          </a:xfrm>
          <a:prstGeom prst="rect">
            <a:avLst/>
          </a:prstGeom>
          <a:solidFill>
            <a:srgbClr val="0F172A"/>
          </a:solidFill>
          <a:ln/>
        </p:spPr>
      </p:sp>
      <p:sp>
        <p:nvSpPr>
          <p:cNvPr id="4" name="Text 1"/>
          <p:cNvSpPr/>
          <p:nvPr/>
        </p:nvSpPr>
        <p:spPr>
          <a:xfrm>
            <a:off x="428625" y="285750"/>
            <a:ext cx="8715375" cy="276820"/>
          </a:xfrm>
          <a:prstGeom prst="rect">
            <a:avLst/>
          </a:prstGeom>
          <a:noFill/>
          <a:ln/>
        </p:spPr>
        <p:txBody>
          <a:bodyPr wrap="square" lIns="0" tIns="0" rIns="0" bIns="0" rtlCol="0" anchor="t">
            <a:spAutoFit/>
          </a:bodyPr>
          <a:lstStyle/>
          <a:p>
            <a:pPr algn="l" indent="0" marL="0">
              <a:buNone/>
            </a:pPr>
            <a:r>
              <a:rPr lang="en-US" sz="1600" b="1" dirty="0">
                <a:solidFill>
                  <a:srgbClr val="F8FAFC"/>
                </a:solidFill>
                <a:latin typeface="Inter Bold" pitchFamily="34" charset="0"/>
                <a:ea typeface="Inter Bold" pitchFamily="34" charset="-122"/>
                <a:cs typeface="Inter Bold" pitchFamily="34" charset="-120"/>
              </a:rPr>
              <a:t>Operations &amp; Management: The Long Game</a:t>
            </a:r>
            <a:endParaRPr lang="en-US" sz="1600" dirty="0"/>
          </a:p>
        </p:txBody>
      </p:sp>
      <p:sp>
        <p:nvSpPr>
          <p:cNvPr id="5" name="Text 2"/>
          <p:cNvSpPr/>
          <p:nvPr/>
        </p:nvSpPr>
        <p:spPr>
          <a:xfrm>
            <a:off x="428625" y="991195"/>
            <a:ext cx="8286750"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334155"/>
                </a:solidFill>
                <a:latin typeface="Inter" pitchFamily="34" charset="0"/>
                <a:ea typeface="Inter" pitchFamily="34" charset="-122"/>
                <a:cs typeface="Inter" pitchFamily="34" charset="-120"/>
              </a:rPr>
              <a:t>Sustainable project success requires a focus on long-term operational excellence. This involves maintaining </a:t>
            </a:r>
            <a:r>
              <a:rPr lang="en-US" sz="900" b="1" dirty="0">
                <a:solidFill>
                  <a:srgbClr val="2563EB"/>
                </a:solidFill>
                <a:latin typeface="Inter Bold" pitchFamily="34" charset="0"/>
                <a:ea typeface="Inter Bold" pitchFamily="34" charset="-122"/>
                <a:cs typeface="Inter Bold" pitchFamily="34" charset="-120"/>
              </a:rPr>
              <a:t>Architecture Decision </a:t>
            </a:r>
            <a:r>
              <a:rPr lang="en-US" sz="900" b="1" dirty="0">
                <a:solidFill>
                  <a:srgbClr val="2563EB"/>
                </a:solidFill>
                <a:latin typeface="Inter Bold" pitchFamily="34" charset="0"/>
                <a:ea typeface="Inter Bold" pitchFamily="34" charset="-122"/>
                <a:cs typeface="Inter Bold" pitchFamily="34" charset="-120"/>
              </a:rPr>
              <a:t>Records (ADRs)</a:t>
            </a:r>
            <a:r>
              <a:rPr lang="en-US" sz="950" dirty="0">
                <a:solidFill>
                  <a:srgbClr val="334155"/>
                </a:solidFill>
                <a:latin typeface="Inter" pitchFamily="34" charset="0"/>
                <a:ea typeface="Inter" pitchFamily="34" charset="-122"/>
                <a:cs typeface="Inter" pitchFamily="34" charset="-120"/>
              </a:rPr>
              <a:t> to document the rationale behind critical choices. Success should be measured using industry-standard </a:t>
            </a:r>
            <a:r>
              <a:rPr lang="en-US" sz="900" b="1" dirty="0">
                <a:solidFill>
                  <a:srgbClr val="2563EB"/>
                </a:solidFill>
                <a:latin typeface="Inter Bold" pitchFamily="34" charset="0"/>
                <a:ea typeface="Inter Bold" pitchFamily="34" charset="-122"/>
                <a:cs typeface="Inter Bold" pitchFamily="34" charset="-120"/>
              </a:rPr>
              <a:t>DORA metrics</a:t>
            </a:r>
            <a:r>
              <a:rPr lang="en-US" sz="950" dirty="0">
                <a:solidFill>
                  <a:srgbClr val="334155"/>
                </a:solidFill>
                <a:latin typeface="Inter" pitchFamily="34" charset="0"/>
                <a:ea typeface="Inter" pitchFamily="34" charset="-122"/>
                <a:cs typeface="Inter" pitchFamily="34" charset="-120"/>
              </a:rPr>
              <a:t> to provide an objective view of delivery performance.</a:t>
            </a:r>
            <a:endParaRPr lang="en-US" sz="950" dirty="0"/>
          </a:p>
        </p:txBody>
      </p:sp>
      <p:sp>
        <p:nvSpPr>
          <p:cNvPr id="6" name="Shape 3"/>
          <p:cNvSpPr/>
          <p:nvPr/>
        </p:nvSpPr>
        <p:spPr>
          <a:xfrm>
            <a:off x="428625" y="1822661"/>
            <a:ext cx="8286750" cy="2355652"/>
          </a:xfrm>
          <a:prstGeom prst="rect">
            <a:avLst/>
          </a:prstGeom>
          <a:solidFill>
            <a:srgbClr val="FFFFFF"/>
          </a:solidFill>
          <a:ln/>
        </p:spPr>
      </p:sp>
      <p:sp>
        <p:nvSpPr>
          <p:cNvPr id="7" name="Shape 4"/>
          <p:cNvSpPr/>
          <p:nvPr/>
        </p:nvSpPr>
        <p:spPr>
          <a:xfrm>
            <a:off x="428625" y="1822661"/>
            <a:ext cx="1544696" cy="369689"/>
          </a:xfrm>
          <a:prstGeom prst="rect">
            <a:avLst/>
          </a:prstGeom>
          <a:solidFill>
            <a:srgbClr val="334155"/>
          </a:solidFill>
          <a:ln/>
        </p:spPr>
      </p:sp>
      <p:sp>
        <p:nvSpPr>
          <p:cNvPr id="8" name="Text 5"/>
          <p:cNvSpPr/>
          <p:nvPr/>
        </p:nvSpPr>
        <p:spPr>
          <a:xfrm>
            <a:off x="428625" y="1822661"/>
            <a:ext cx="1544696" cy="369689"/>
          </a:xfrm>
          <a:prstGeom prst="rect">
            <a:avLst/>
          </a:prstGeom>
          <a:noFill/>
          <a:ln/>
        </p:spPr>
        <p:txBody>
          <a:bodyPr wrap="square" lIns="127508" tIns="127508" rIns="127508" bIns="127508" rtlCol="0" anchor="ctr">
            <a:spAutoFit/>
          </a:bodyPr>
          <a:lstStyle/>
          <a:p>
            <a:pPr algn="l" indent="0" marL="0">
              <a:buNone/>
            </a:pPr>
            <a:r>
              <a:rPr lang="en-US" sz="900" b="1" dirty="0">
                <a:solidFill>
                  <a:srgbClr val="FFFFFF"/>
                </a:solidFill>
                <a:latin typeface="Inter Bold" pitchFamily="34" charset="0"/>
                <a:ea typeface="Inter Bold" pitchFamily="34" charset="-122"/>
                <a:cs typeface="Inter Bold" pitchFamily="34" charset="-120"/>
              </a:rPr>
              <a:t>DORA Metric</a:t>
            </a:r>
            <a:endParaRPr lang="en-US" sz="900" dirty="0"/>
          </a:p>
        </p:txBody>
      </p:sp>
      <p:sp>
        <p:nvSpPr>
          <p:cNvPr id="9" name="Shape 6"/>
          <p:cNvSpPr/>
          <p:nvPr/>
        </p:nvSpPr>
        <p:spPr>
          <a:xfrm>
            <a:off x="1973321" y="1822661"/>
            <a:ext cx="3101894" cy="369689"/>
          </a:xfrm>
          <a:prstGeom prst="rect">
            <a:avLst/>
          </a:prstGeom>
          <a:solidFill>
            <a:srgbClr val="334155"/>
          </a:solidFill>
          <a:ln/>
        </p:spPr>
      </p:sp>
      <p:sp>
        <p:nvSpPr>
          <p:cNvPr id="10" name="Text 7"/>
          <p:cNvSpPr/>
          <p:nvPr/>
        </p:nvSpPr>
        <p:spPr>
          <a:xfrm>
            <a:off x="1973321" y="1822661"/>
            <a:ext cx="3101894" cy="369689"/>
          </a:xfrm>
          <a:prstGeom prst="rect">
            <a:avLst/>
          </a:prstGeom>
          <a:noFill/>
          <a:ln/>
        </p:spPr>
        <p:txBody>
          <a:bodyPr wrap="square" lIns="127508" tIns="127508" rIns="127508" bIns="127508" rtlCol="0" anchor="ctr">
            <a:spAutoFit/>
          </a:bodyPr>
          <a:lstStyle/>
          <a:p>
            <a:pPr algn="l" indent="0" marL="0">
              <a:buNone/>
            </a:pPr>
            <a:r>
              <a:rPr lang="en-US" sz="900" b="1" dirty="0">
                <a:solidFill>
                  <a:srgbClr val="FFFFFF"/>
                </a:solidFill>
                <a:latin typeface="Inter Bold" pitchFamily="34" charset="0"/>
                <a:ea typeface="Inter Bold" pitchFamily="34" charset="-122"/>
                <a:cs typeface="Inter Bold" pitchFamily="34" charset="-120"/>
              </a:rPr>
              <a:t>Description</a:t>
            </a:r>
            <a:endParaRPr lang="en-US" sz="900" dirty="0"/>
          </a:p>
        </p:txBody>
      </p:sp>
      <p:sp>
        <p:nvSpPr>
          <p:cNvPr id="11" name="Shape 8"/>
          <p:cNvSpPr/>
          <p:nvPr/>
        </p:nvSpPr>
        <p:spPr>
          <a:xfrm>
            <a:off x="5075216" y="1822661"/>
            <a:ext cx="3640159" cy="369689"/>
          </a:xfrm>
          <a:prstGeom prst="rect">
            <a:avLst/>
          </a:prstGeom>
          <a:solidFill>
            <a:srgbClr val="334155"/>
          </a:solidFill>
          <a:ln/>
        </p:spPr>
      </p:sp>
      <p:sp>
        <p:nvSpPr>
          <p:cNvPr id="12" name="Text 9"/>
          <p:cNvSpPr/>
          <p:nvPr/>
        </p:nvSpPr>
        <p:spPr>
          <a:xfrm>
            <a:off x="5075216" y="1822661"/>
            <a:ext cx="3640159" cy="369689"/>
          </a:xfrm>
          <a:prstGeom prst="rect">
            <a:avLst/>
          </a:prstGeom>
          <a:noFill/>
          <a:ln/>
        </p:spPr>
        <p:txBody>
          <a:bodyPr wrap="square" lIns="127508" tIns="127508" rIns="127508" bIns="127508" rtlCol="0" anchor="ctr">
            <a:spAutoFit/>
          </a:bodyPr>
          <a:lstStyle/>
          <a:p>
            <a:pPr algn="l" indent="0" marL="0">
              <a:buNone/>
            </a:pPr>
            <a:r>
              <a:rPr lang="en-US" sz="900" b="1" dirty="0">
                <a:solidFill>
                  <a:srgbClr val="FFFFFF"/>
                </a:solidFill>
                <a:latin typeface="Inter Bold" pitchFamily="34" charset="0"/>
                <a:ea typeface="Inter Bold" pitchFamily="34" charset="-122"/>
                <a:cs typeface="Inter Bold" pitchFamily="34" charset="-120"/>
              </a:rPr>
              <a:t>Impact on Project Success</a:t>
            </a:r>
            <a:endParaRPr lang="en-US" sz="900" dirty="0"/>
          </a:p>
        </p:txBody>
      </p:sp>
      <p:sp>
        <p:nvSpPr>
          <p:cNvPr id="13" name="Text 10"/>
          <p:cNvSpPr/>
          <p:nvPr/>
        </p:nvSpPr>
        <p:spPr>
          <a:xfrm>
            <a:off x="428625" y="2192350"/>
            <a:ext cx="1544696" cy="492919"/>
          </a:xfrm>
          <a:prstGeom prst="rect">
            <a:avLst/>
          </a:prstGeom>
          <a:noFill/>
          <a:ln/>
        </p:spPr>
        <p:txBody>
          <a:bodyPr wrap="square" lIns="127508" tIns="127508" rIns="127508" bIns="127508" rtlCol="0" anchor="t">
            <a:spAutoFit/>
          </a:bodyPr>
          <a:lstStyle/>
          <a:p>
            <a:pPr algn="l" indent="0" marL="0">
              <a:buNone/>
            </a:pPr>
            <a:r>
              <a:rPr lang="en-US" sz="800" b="1" dirty="0">
                <a:solidFill>
                  <a:srgbClr val="0F172A"/>
                </a:solidFill>
                <a:latin typeface="Inter Bold" pitchFamily="34" charset="0"/>
                <a:ea typeface="Inter Bold" pitchFamily="34" charset="-122"/>
                <a:cs typeface="Inter Bold" pitchFamily="34" charset="-120"/>
              </a:rPr>
              <a:t>Deployment Frequency</a:t>
            </a:r>
            <a:endParaRPr lang="en-US" sz="800" dirty="0"/>
          </a:p>
        </p:txBody>
      </p:sp>
      <p:sp>
        <p:nvSpPr>
          <p:cNvPr id="14" name="Text 11"/>
          <p:cNvSpPr/>
          <p:nvPr/>
        </p:nvSpPr>
        <p:spPr>
          <a:xfrm>
            <a:off x="1973321" y="2192350"/>
            <a:ext cx="3101894" cy="492919"/>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How often an organization successfully releases to production.</a:t>
            </a:r>
            <a:endParaRPr lang="en-US" sz="850" dirty="0"/>
          </a:p>
        </p:txBody>
      </p:sp>
      <p:sp>
        <p:nvSpPr>
          <p:cNvPr id="15" name="Text 12"/>
          <p:cNvSpPr/>
          <p:nvPr/>
        </p:nvSpPr>
        <p:spPr>
          <a:xfrm>
            <a:off x="5075216" y="2192350"/>
            <a:ext cx="3640159" cy="492919"/>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Higher frequency indicates faster feedback loops and smaller, less risky changes.</a:t>
            </a:r>
            <a:endParaRPr lang="en-US" sz="850" dirty="0"/>
          </a:p>
        </p:txBody>
      </p:sp>
      <p:sp>
        <p:nvSpPr>
          <p:cNvPr id="16" name="Text 13"/>
          <p:cNvSpPr/>
          <p:nvPr/>
        </p:nvSpPr>
        <p:spPr>
          <a:xfrm>
            <a:off x="428625" y="2685269"/>
            <a:ext cx="1544696" cy="496491"/>
          </a:xfrm>
          <a:prstGeom prst="rect">
            <a:avLst/>
          </a:prstGeom>
          <a:noFill/>
          <a:ln/>
        </p:spPr>
        <p:txBody>
          <a:bodyPr wrap="square" lIns="127508" tIns="127508" rIns="127508" bIns="127508" rtlCol="0" anchor="t">
            <a:spAutoFit/>
          </a:bodyPr>
          <a:lstStyle/>
          <a:p>
            <a:pPr algn="l" indent="0" marL="0">
              <a:buNone/>
            </a:pPr>
            <a:r>
              <a:rPr lang="en-US" sz="800" b="1" dirty="0">
                <a:solidFill>
                  <a:srgbClr val="0F172A"/>
                </a:solidFill>
                <a:latin typeface="Inter Bold" pitchFamily="34" charset="0"/>
                <a:ea typeface="Inter Bold" pitchFamily="34" charset="-122"/>
                <a:cs typeface="Inter Bold" pitchFamily="34" charset="-120"/>
              </a:rPr>
              <a:t>Lead Time for Changes</a:t>
            </a:r>
            <a:endParaRPr lang="en-US" sz="800" dirty="0"/>
          </a:p>
        </p:txBody>
      </p:sp>
      <p:sp>
        <p:nvSpPr>
          <p:cNvPr id="17" name="Text 14"/>
          <p:cNvSpPr/>
          <p:nvPr/>
        </p:nvSpPr>
        <p:spPr>
          <a:xfrm>
            <a:off x="1973321" y="2685269"/>
            <a:ext cx="3101894" cy="496491"/>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The time it takes for a commit to get into production.</a:t>
            </a:r>
            <a:endParaRPr lang="en-US" sz="850" dirty="0"/>
          </a:p>
        </p:txBody>
      </p:sp>
      <p:sp>
        <p:nvSpPr>
          <p:cNvPr id="18" name="Text 15"/>
          <p:cNvSpPr/>
          <p:nvPr/>
        </p:nvSpPr>
        <p:spPr>
          <a:xfrm>
            <a:off x="5075216" y="2685269"/>
            <a:ext cx="3640159" cy="496491"/>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Shorter lead times enable quicker response to market demands and customer feedback.</a:t>
            </a:r>
            <a:endParaRPr lang="en-US" sz="850" dirty="0"/>
          </a:p>
        </p:txBody>
      </p:sp>
      <p:sp>
        <p:nvSpPr>
          <p:cNvPr id="19" name="Text 16"/>
          <p:cNvSpPr/>
          <p:nvPr/>
        </p:nvSpPr>
        <p:spPr>
          <a:xfrm>
            <a:off x="428625" y="3181759"/>
            <a:ext cx="1544696" cy="496491"/>
          </a:xfrm>
          <a:prstGeom prst="rect">
            <a:avLst/>
          </a:prstGeom>
          <a:noFill/>
          <a:ln/>
        </p:spPr>
        <p:txBody>
          <a:bodyPr wrap="square" lIns="127508" tIns="127508" rIns="127508" bIns="127508" rtlCol="0" anchor="t">
            <a:spAutoFit/>
          </a:bodyPr>
          <a:lstStyle/>
          <a:p>
            <a:pPr algn="l" indent="0" marL="0">
              <a:buNone/>
            </a:pPr>
            <a:r>
              <a:rPr lang="en-US" sz="800" b="1" dirty="0">
                <a:solidFill>
                  <a:srgbClr val="0F172A"/>
                </a:solidFill>
                <a:latin typeface="Inter Bold" pitchFamily="34" charset="0"/>
                <a:ea typeface="Inter Bold" pitchFamily="34" charset="-122"/>
                <a:cs typeface="Inter Bold" pitchFamily="34" charset="-120"/>
              </a:rPr>
              <a:t>Mean Time to Restore (MTTR)</a:t>
            </a:r>
            <a:endParaRPr lang="en-US" sz="800" dirty="0"/>
          </a:p>
        </p:txBody>
      </p:sp>
      <p:sp>
        <p:nvSpPr>
          <p:cNvPr id="20" name="Text 17"/>
          <p:cNvSpPr/>
          <p:nvPr/>
        </p:nvSpPr>
        <p:spPr>
          <a:xfrm>
            <a:off x="1973321" y="3181759"/>
            <a:ext cx="3101894" cy="496491"/>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How long it takes to restore service after an incident.</a:t>
            </a:r>
            <a:endParaRPr lang="en-US" sz="850" dirty="0"/>
          </a:p>
        </p:txBody>
      </p:sp>
      <p:sp>
        <p:nvSpPr>
          <p:cNvPr id="21" name="Text 18"/>
          <p:cNvSpPr/>
          <p:nvPr/>
        </p:nvSpPr>
        <p:spPr>
          <a:xfrm>
            <a:off x="5075216" y="3181759"/>
            <a:ext cx="3640159" cy="496491"/>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Lower MTTR signifies robust incident response and system resilience.</a:t>
            </a:r>
            <a:endParaRPr lang="en-US" sz="850" dirty="0"/>
          </a:p>
        </p:txBody>
      </p:sp>
      <p:sp>
        <p:nvSpPr>
          <p:cNvPr id="22" name="Text 19"/>
          <p:cNvSpPr/>
          <p:nvPr/>
        </p:nvSpPr>
        <p:spPr>
          <a:xfrm>
            <a:off x="428625" y="3678250"/>
            <a:ext cx="1544696" cy="496491"/>
          </a:xfrm>
          <a:prstGeom prst="rect">
            <a:avLst/>
          </a:prstGeom>
          <a:noFill/>
          <a:ln/>
        </p:spPr>
        <p:txBody>
          <a:bodyPr wrap="square" lIns="127508" tIns="127508" rIns="127508" bIns="127508" rtlCol="0" anchor="t">
            <a:spAutoFit/>
          </a:bodyPr>
          <a:lstStyle/>
          <a:p>
            <a:pPr algn="l" indent="0" marL="0">
              <a:buNone/>
            </a:pPr>
            <a:r>
              <a:rPr lang="en-US" sz="800" b="1" dirty="0">
                <a:solidFill>
                  <a:srgbClr val="0F172A"/>
                </a:solidFill>
                <a:latin typeface="Inter Bold" pitchFamily="34" charset="0"/>
                <a:ea typeface="Inter Bold" pitchFamily="34" charset="-122"/>
                <a:cs typeface="Inter Bold" pitchFamily="34" charset="-120"/>
              </a:rPr>
              <a:t>Change Failure Rate</a:t>
            </a:r>
            <a:endParaRPr lang="en-US" sz="800" dirty="0"/>
          </a:p>
        </p:txBody>
      </p:sp>
      <p:sp>
        <p:nvSpPr>
          <p:cNvPr id="23" name="Text 20"/>
          <p:cNvSpPr/>
          <p:nvPr/>
        </p:nvSpPr>
        <p:spPr>
          <a:xfrm>
            <a:off x="1973321" y="3678250"/>
            <a:ext cx="3101894" cy="496491"/>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The percentage of changes to production that result in degraded service.</a:t>
            </a:r>
            <a:endParaRPr lang="en-US" sz="850" dirty="0"/>
          </a:p>
        </p:txBody>
      </p:sp>
      <p:sp>
        <p:nvSpPr>
          <p:cNvPr id="24" name="Text 21"/>
          <p:cNvSpPr/>
          <p:nvPr/>
        </p:nvSpPr>
        <p:spPr>
          <a:xfrm>
            <a:off x="5075216" y="3678250"/>
            <a:ext cx="3640159" cy="496491"/>
          </a:xfrm>
          <a:prstGeom prst="rect">
            <a:avLst/>
          </a:prstGeom>
          <a:noFill/>
          <a:ln/>
        </p:spPr>
        <p:txBody>
          <a:bodyPr wrap="square" lIns="127508" tIns="127508" rIns="127508" bIns="127508" rtlCol="0" anchor="t">
            <a:spAutoFit/>
          </a:bodyPr>
          <a:lstStyle/>
          <a:p>
            <a:pPr algn="l" indent="0" marL="0">
              <a:buNone/>
            </a:pPr>
            <a:r>
              <a:rPr lang="en-US" sz="850" dirty="0">
                <a:solidFill>
                  <a:srgbClr val="334155"/>
                </a:solidFill>
                <a:latin typeface="Inter" pitchFamily="34" charset="0"/>
                <a:ea typeface="Inter" pitchFamily="34" charset="-122"/>
                <a:cs typeface="Inter" pitchFamily="34" charset="-120"/>
              </a:rPr>
              <a:t>Lower failure rates indicate higher quality and more stable deployments.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05445"/>
          </a:xfrm>
          <a:prstGeom prst="rect">
            <a:avLst/>
          </a:prstGeom>
          <a:solidFill>
            <a:srgbClr val="0F172A"/>
          </a:solidFill>
          <a:ln/>
        </p:spPr>
      </p:sp>
      <p:sp>
        <p:nvSpPr>
          <p:cNvPr id="4" name="Text 1"/>
          <p:cNvSpPr/>
          <p:nvPr/>
        </p:nvSpPr>
        <p:spPr>
          <a:xfrm>
            <a:off x="428625" y="285750"/>
            <a:ext cx="8715375" cy="276820"/>
          </a:xfrm>
          <a:prstGeom prst="rect">
            <a:avLst/>
          </a:prstGeom>
          <a:noFill/>
          <a:ln/>
        </p:spPr>
        <p:txBody>
          <a:bodyPr wrap="square" lIns="0" tIns="0" rIns="0" bIns="0" rtlCol="0" anchor="t">
            <a:spAutoFit/>
          </a:bodyPr>
          <a:lstStyle/>
          <a:p>
            <a:pPr algn="l" indent="0" marL="0">
              <a:buNone/>
            </a:pPr>
            <a:r>
              <a:rPr lang="en-US" sz="1600" b="1" dirty="0">
                <a:solidFill>
                  <a:srgbClr val="F8FAFC"/>
                </a:solidFill>
                <a:latin typeface="Inter Bold" pitchFamily="34" charset="0"/>
                <a:ea typeface="Inter Bold" pitchFamily="34" charset="-122"/>
                <a:cs typeface="Inter Bold" pitchFamily="34" charset="-120"/>
              </a:rPr>
              <a:t>Interactive Session: 5 Intelligent Questions</a:t>
            </a:r>
            <a:endParaRPr lang="en-US" sz="1600" dirty="0"/>
          </a:p>
        </p:txBody>
      </p:sp>
      <p:sp>
        <p:nvSpPr>
          <p:cNvPr id="5" name="Shape 2"/>
          <p:cNvSpPr/>
          <p:nvPr/>
        </p:nvSpPr>
        <p:spPr>
          <a:xfrm>
            <a:off x="428625" y="991195"/>
            <a:ext cx="8286750" cy="642938"/>
          </a:xfrm>
          <a:prstGeom prst="rect">
            <a:avLst/>
          </a:prstGeom>
          <a:solidFill>
            <a:srgbClr val="FFFFFF"/>
          </a:solidFill>
          <a:ln w="9144">
            <a:solidFill>
              <a:srgbClr val="E2E8F0"/>
            </a:solidFill>
            <a:prstDash val="solid"/>
          </a:ln>
        </p:spPr>
      </p:sp>
      <p:sp>
        <p:nvSpPr>
          <p:cNvPr id="6" name="Shape 3"/>
          <p:cNvSpPr/>
          <p:nvPr/>
        </p:nvSpPr>
        <p:spPr>
          <a:xfrm>
            <a:off x="571500" y="1134070"/>
            <a:ext cx="285750" cy="285750"/>
          </a:xfrm>
          <a:prstGeom prst="rect">
            <a:avLst/>
          </a:prstGeom>
          <a:solidFill>
            <a:srgbClr val="2563EB"/>
          </a:solidFill>
          <a:ln/>
        </p:spPr>
      </p:sp>
      <p:sp>
        <p:nvSpPr>
          <p:cNvPr id="7" name="Text 4"/>
          <p:cNvSpPr/>
          <p:nvPr/>
        </p:nvSpPr>
        <p:spPr>
          <a:xfrm>
            <a:off x="571500" y="1134070"/>
            <a:ext cx="285750" cy="285750"/>
          </a:xfrm>
          <a:prstGeom prst="rect">
            <a:avLst/>
          </a:prstGeom>
          <a:noFill/>
          <a:ln/>
        </p:spPr>
        <p:txBody>
          <a:bodyPr wrap="none" lIns="0" tIns="0" rIns="0" bIns="0" rtlCol="0" anchor="ctr">
            <a:spAutoFit/>
          </a:bodyPr>
          <a:lstStyle/>
          <a:p>
            <a:pPr algn="ctr" indent="0" marL="0">
              <a:buNone/>
            </a:pPr>
            <a:r>
              <a:rPr lang="en-US" sz="1000" b="1" dirty="0">
                <a:solidFill>
                  <a:srgbClr val="FFFFFF"/>
                </a:solidFill>
                <a:latin typeface="Inter Bold" pitchFamily="34" charset="0"/>
                <a:ea typeface="Inter Bold" pitchFamily="34" charset="-122"/>
                <a:cs typeface="Inter Bold" pitchFamily="34" charset="-120"/>
              </a:rPr>
              <a:t>1</a:t>
            </a:r>
            <a:endParaRPr lang="en-US" sz="1000" dirty="0"/>
          </a:p>
        </p:txBody>
      </p:sp>
      <p:sp>
        <p:nvSpPr>
          <p:cNvPr id="8" name="Text 5"/>
          <p:cNvSpPr/>
          <p:nvPr/>
        </p:nvSpPr>
        <p:spPr>
          <a:xfrm>
            <a:off x="1000125" y="1134070"/>
            <a:ext cx="7154466" cy="140001"/>
          </a:xfrm>
          <a:prstGeom prst="rect">
            <a:avLst/>
          </a:prstGeom>
          <a:noFill/>
          <a:ln/>
        </p:spPr>
        <p:txBody>
          <a:bodyPr wrap="none" lIns="0" tIns="0" rIns="0" bIns="0" rtlCol="0" anchor="t">
            <a:spAutoFit/>
          </a:bodyPr>
          <a:lstStyle/>
          <a:p>
            <a:pPr algn="l" indent="0" marL="0">
              <a:lnSpc>
                <a:spcPct val="112000"/>
              </a:lnSpc>
              <a:buNone/>
            </a:pPr>
            <a:r>
              <a:rPr lang="en-US" sz="700" b="1" dirty="0">
                <a:solidFill>
                  <a:srgbClr val="10B981"/>
                </a:solidFill>
                <a:latin typeface="Inter Bold" pitchFamily="34" charset="0"/>
                <a:ea typeface="Inter Bold" pitchFamily="34" charset="-122"/>
                <a:cs typeface="Inter Bold" pitchFamily="34" charset="-120"/>
              </a:rPr>
              <a:t>BUSINESS ANALYSIS / PRODUCT</a:t>
            </a:r>
            <a:endParaRPr lang="en-US" sz="700" dirty="0"/>
          </a:p>
        </p:txBody>
      </p:sp>
      <p:sp>
        <p:nvSpPr>
          <p:cNvPr id="9" name="Text 6"/>
          <p:cNvSpPr/>
          <p:nvPr/>
        </p:nvSpPr>
        <p:spPr>
          <a:xfrm>
            <a:off x="1000125" y="1320505"/>
            <a:ext cx="7154466"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"If we deleted this feature tomorrow, who would complain the loudest and what business metric would actually drop?"</a:t>
            </a:r>
            <a:endParaRPr lang="en-US" sz="950" dirty="0"/>
          </a:p>
        </p:txBody>
      </p:sp>
      <p:sp>
        <p:nvSpPr>
          <p:cNvPr id="10" name="Shape 7"/>
          <p:cNvSpPr/>
          <p:nvPr/>
        </p:nvSpPr>
        <p:spPr>
          <a:xfrm>
            <a:off x="428625" y="1777008"/>
            <a:ext cx="8286750" cy="692916"/>
          </a:xfrm>
          <a:prstGeom prst="rect">
            <a:avLst/>
          </a:prstGeom>
          <a:solidFill>
            <a:srgbClr val="FFFFFF"/>
          </a:solidFill>
          <a:ln w="9144">
            <a:solidFill>
              <a:srgbClr val="E2E8F0"/>
            </a:solidFill>
            <a:prstDash val="solid"/>
          </a:ln>
        </p:spPr>
      </p:sp>
      <p:sp>
        <p:nvSpPr>
          <p:cNvPr id="11" name="Shape 8"/>
          <p:cNvSpPr/>
          <p:nvPr/>
        </p:nvSpPr>
        <p:spPr>
          <a:xfrm>
            <a:off x="571500" y="1919883"/>
            <a:ext cx="285750" cy="285750"/>
          </a:xfrm>
          <a:prstGeom prst="rect">
            <a:avLst/>
          </a:prstGeom>
          <a:solidFill>
            <a:srgbClr val="2563EB"/>
          </a:solidFill>
          <a:ln/>
        </p:spPr>
      </p:sp>
      <p:sp>
        <p:nvSpPr>
          <p:cNvPr id="12" name="Text 9"/>
          <p:cNvSpPr/>
          <p:nvPr/>
        </p:nvSpPr>
        <p:spPr>
          <a:xfrm>
            <a:off x="571500" y="1919883"/>
            <a:ext cx="285750" cy="285750"/>
          </a:xfrm>
          <a:prstGeom prst="rect">
            <a:avLst/>
          </a:prstGeom>
          <a:noFill/>
          <a:ln/>
        </p:spPr>
        <p:txBody>
          <a:bodyPr wrap="none" lIns="0" tIns="0" rIns="0" bIns="0" rtlCol="0" anchor="ctr">
            <a:spAutoFit/>
          </a:bodyPr>
          <a:lstStyle/>
          <a:p>
            <a:pPr algn="ctr" indent="0" marL="0">
              <a:buNone/>
            </a:pPr>
            <a:r>
              <a:rPr lang="en-US" sz="1000" b="1" dirty="0">
                <a:solidFill>
                  <a:srgbClr val="FFFFFF"/>
                </a:solidFill>
                <a:latin typeface="Inter Bold" pitchFamily="34" charset="0"/>
                <a:ea typeface="Inter Bold" pitchFamily="34" charset="-122"/>
                <a:cs typeface="Inter Bold" pitchFamily="34" charset="-120"/>
              </a:rPr>
              <a:t>2</a:t>
            </a:r>
            <a:endParaRPr lang="en-US" sz="1000" dirty="0"/>
          </a:p>
        </p:txBody>
      </p:sp>
      <p:sp>
        <p:nvSpPr>
          <p:cNvPr id="13" name="Text 10"/>
          <p:cNvSpPr/>
          <p:nvPr/>
        </p:nvSpPr>
        <p:spPr>
          <a:xfrm>
            <a:off x="1000125" y="1919883"/>
            <a:ext cx="7572375" cy="140001"/>
          </a:xfrm>
          <a:prstGeom prst="rect">
            <a:avLst/>
          </a:prstGeom>
          <a:noFill/>
          <a:ln/>
        </p:spPr>
        <p:txBody>
          <a:bodyPr wrap="none" lIns="0" tIns="0" rIns="0" bIns="0" rtlCol="0" anchor="t">
            <a:spAutoFit/>
          </a:bodyPr>
          <a:lstStyle/>
          <a:p>
            <a:pPr algn="l" indent="0" marL="0">
              <a:lnSpc>
                <a:spcPct val="112000"/>
              </a:lnSpc>
              <a:buNone/>
            </a:pPr>
            <a:r>
              <a:rPr lang="en-US" sz="700" b="1" dirty="0">
                <a:solidFill>
                  <a:srgbClr val="10B981"/>
                </a:solidFill>
                <a:latin typeface="Inter Bold" pitchFamily="34" charset="0"/>
                <a:ea typeface="Inter Bold" pitchFamily="34" charset="-122"/>
                <a:cs typeface="Inter Bold" pitchFamily="34" charset="-120"/>
              </a:rPr>
              <a:t>DEVELOPMENT / ARCHITECTURE</a:t>
            </a:r>
            <a:endParaRPr lang="en-US" sz="700" dirty="0"/>
          </a:p>
        </p:txBody>
      </p:sp>
      <p:sp>
        <p:nvSpPr>
          <p:cNvPr id="14" name="Text 11"/>
          <p:cNvSpPr/>
          <p:nvPr/>
        </p:nvSpPr>
        <p:spPr>
          <a:xfrm>
            <a:off x="1000125" y="2106318"/>
            <a:ext cx="7384852"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"If our primary database went down for 10 minutes, what is the user's experience, and how long does it take us to recover</a:t>
            </a:r>
            <a:endParaRPr lang="en-US" sz="950" dirty="0"/>
          </a:p>
        </p:txBody>
      </p:sp>
      <p:sp>
        <p:nvSpPr>
          <p:cNvPr id="15" name="Text 12"/>
          <p:cNvSpPr/>
          <p:nvPr/>
        </p:nvSpPr>
        <p:spPr>
          <a:xfrm>
            <a:off x="1000125" y="2286335"/>
            <a:ext cx="928688"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automatically?"</a:t>
            </a:r>
            <a:endParaRPr lang="en-US" sz="950" dirty="0"/>
          </a:p>
        </p:txBody>
      </p:sp>
      <p:sp>
        <p:nvSpPr>
          <p:cNvPr id="16" name="Shape 13"/>
          <p:cNvSpPr/>
          <p:nvPr/>
        </p:nvSpPr>
        <p:spPr>
          <a:xfrm>
            <a:off x="428625" y="2598511"/>
            <a:ext cx="8286750" cy="642938"/>
          </a:xfrm>
          <a:prstGeom prst="rect">
            <a:avLst/>
          </a:prstGeom>
          <a:solidFill>
            <a:srgbClr val="FFFFFF"/>
          </a:solidFill>
          <a:ln w="9144">
            <a:solidFill>
              <a:srgbClr val="E2E8F0"/>
            </a:solidFill>
            <a:prstDash val="solid"/>
          </a:ln>
        </p:spPr>
      </p:sp>
      <p:sp>
        <p:nvSpPr>
          <p:cNvPr id="17" name="Shape 14"/>
          <p:cNvSpPr/>
          <p:nvPr/>
        </p:nvSpPr>
        <p:spPr>
          <a:xfrm>
            <a:off x="571500" y="2741386"/>
            <a:ext cx="285750" cy="285750"/>
          </a:xfrm>
          <a:prstGeom prst="rect">
            <a:avLst/>
          </a:prstGeom>
          <a:solidFill>
            <a:srgbClr val="2563EB"/>
          </a:solidFill>
          <a:ln/>
        </p:spPr>
      </p:sp>
      <p:sp>
        <p:nvSpPr>
          <p:cNvPr id="18" name="Text 15"/>
          <p:cNvSpPr/>
          <p:nvPr/>
        </p:nvSpPr>
        <p:spPr>
          <a:xfrm>
            <a:off x="571500" y="2741386"/>
            <a:ext cx="285750" cy="285750"/>
          </a:xfrm>
          <a:prstGeom prst="rect">
            <a:avLst/>
          </a:prstGeom>
          <a:noFill/>
          <a:ln/>
        </p:spPr>
        <p:txBody>
          <a:bodyPr wrap="none" lIns="0" tIns="0" rIns="0" bIns="0" rtlCol="0" anchor="ctr">
            <a:spAutoFit/>
          </a:bodyPr>
          <a:lstStyle/>
          <a:p>
            <a:pPr algn="ctr" indent="0" marL="0">
              <a:buNone/>
            </a:pPr>
            <a:r>
              <a:rPr lang="en-US" sz="1000" b="1" dirty="0">
                <a:solidFill>
                  <a:srgbClr val="FFFFFF"/>
                </a:solidFill>
                <a:latin typeface="Inter Bold" pitchFamily="34" charset="0"/>
                <a:ea typeface="Inter Bold" pitchFamily="34" charset="-122"/>
                <a:cs typeface="Inter Bold" pitchFamily="34" charset="-120"/>
              </a:rPr>
              <a:t>3</a:t>
            </a:r>
            <a:endParaRPr lang="en-US" sz="1000" dirty="0"/>
          </a:p>
        </p:txBody>
      </p:sp>
      <p:sp>
        <p:nvSpPr>
          <p:cNvPr id="19" name="Text 16"/>
          <p:cNvSpPr/>
          <p:nvPr/>
        </p:nvSpPr>
        <p:spPr>
          <a:xfrm>
            <a:off x="1000125" y="2741386"/>
            <a:ext cx="7100888" cy="140001"/>
          </a:xfrm>
          <a:prstGeom prst="rect">
            <a:avLst/>
          </a:prstGeom>
          <a:noFill/>
          <a:ln/>
        </p:spPr>
        <p:txBody>
          <a:bodyPr wrap="none" lIns="0" tIns="0" rIns="0" bIns="0" rtlCol="0" anchor="t">
            <a:spAutoFit/>
          </a:bodyPr>
          <a:lstStyle/>
          <a:p>
            <a:pPr algn="l" indent="0" marL="0">
              <a:lnSpc>
                <a:spcPct val="112000"/>
              </a:lnSpc>
              <a:buNone/>
            </a:pPr>
            <a:r>
              <a:rPr lang="en-US" sz="700" b="1" dirty="0">
                <a:solidFill>
                  <a:srgbClr val="10B981"/>
                </a:solidFill>
                <a:latin typeface="Inter Bold" pitchFamily="34" charset="0"/>
                <a:ea typeface="Inter Bold" pitchFamily="34" charset="-122"/>
                <a:cs typeface="Inter Bold" pitchFamily="34" charset="-120"/>
              </a:rPr>
              <a:t>QUALITY ASSURANCE / TESTING</a:t>
            </a:r>
            <a:endParaRPr lang="en-US" sz="700" dirty="0"/>
          </a:p>
        </p:txBody>
      </p:sp>
      <p:sp>
        <p:nvSpPr>
          <p:cNvPr id="20" name="Text 17"/>
          <p:cNvSpPr/>
          <p:nvPr/>
        </p:nvSpPr>
        <p:spPr>
          <a:xfrm>
            <a:off x="1000125" y="2927821"/>
            <a:ext cx="7100888"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"If we have 100% code coverage but zero integration tests, how confident are we in a Friday afternoon deployment?"</a:t>
            </a:r>
            <a:endParaRPr lang="en-US" sz="950" dirty="0"/>
          </a:p>
        </p:txBody>
      </p:sp>
      <p:sp>
        <p:nvSpPr>
          <p:cNvPr id="21" name="Shape 18"/>
          <p:cNvSpPr/>
          <p:nvPr/>
        </p:nvSpPr>
        <p:spPr>
          <a:xfrm>
            <a:off x="428625" y="3384324"/>
            <a:ext cx="8286750" cy="692916"/>
          </a:xfrm>
          <a:prstGeom prst="rect">
            <a:avLst/>
          </a:prstGeom>
          <a:solidFill>
            <a:srgbClr val="FFFFFF"/>
          </a:solidFill>
          <a:ln w="9144">
            <a:solidFill>
              <a:srgbClr val="E2E8F0"/>
            </a:solidFill>
            <a:prstDash val="solid"/>
          </a:ln>
        </p:spPr>
      </p:sp>
      <p:sp>
        <p:nvSpPr>
          <p:cNvPr id="22" name="Shape 19"/>
          <p:cNvSpPr/>
          <p:nvPr/>
        </p:nvSpPr>
        <p:spPr>
          <a:xfrm>
            <a:off x="571500" y="3527199"/>
            <a:ext cx="285750" cy="285750"/>
          </a:xfrm>
          <a:prstGeom prst="rect">
            <a:avLst/>
          </a:prstGeom>
          <a:solidFill>
            <a:srgbClr val="2563EB"/>
          </a:solidFill>
          <a:ln/>
        </p:spPr>
      </p:sp>
      <p:sp>
        <p:nvSpPr>
          <p:cNvPr id="23" name="Text 20"/>
          <p:cNvSpPr/>
          <p:nvPr/>
        </p:nvSpPr>
        <p:spPr>
          <a:xfrm>
            <a:off x="571500" y="3527199"/>
            <a:ext cx="285750" cy="285750"/>
          </a:xfrm>
          <a:prstGeom prst="rect">
            <a:avLst/>
          </a:prstGeom>
          <a:noFill/>
          <a:ln/>
        </p:spPr>
        <p:txBody>
          <a:bodyPr wrap="none" lIns="0" tIns="0" rIns="0" bIns="0" rtlCol="0" anchor="ctr">
            <a:spAutoFit/>
          </a:bodyPr>
          <a:lstStyle/>
          <a:p>
            <a:pPr algn="ctr" indent="0" marL="0">
              <a:buNone/>
            </a:pPr>
            <a:r>
              <a:rPr lang="en-US" sz="1000" b="1" dirty="0">
                <a:solidFill>
                  <a:srgbClr val="FFFFFF"/>
                </a:solidFill>
                <a:latin typeface="Inter Bold" pitchFamily="34" charset="0"/>
                <a:ea typeface="Inter Bold" pitchFamily="34" charset="-122"/>
                <a:cs typeface="Inter Bold" pitchFamily="34" charset="-120"/>
              </a:rPr>
              <a:t>4</a:t>
            </a:r>
            <a:endParaRPr lang="en-US" sz="1000" dirty="0"/>
          </a:p>
        </p:txBody>
      </p:sp>
      <p:sp>
        <p:nvSpPr>
          <p:cNvPr id="24" name="Text 21"/>
          <p:cNvSpPr/>
          <p:nvPr/>
        </p:nvSpPr>
        <p:spPr>
          <a:xfrm>
            <a:off x="1000125" y="3527199"/>
            <a:ext cx="7572375" cy="140001"/>
          </a:xfrm>
          <a:prstGeom prst="rect">
            <a:avLst/>
          </a:prstGeom>
          <a:noFill/>
          <a:ln/>
        </p:spPr>
        <p:txBody>
          <a:bodyPr wrap="none" lIns="0" tIns="0" rIns="0" bIns="0" rtlCol="0" anchor="t">
            <a:spAutoFit/>
          </a:bodyPr>
          <a:lstStyle/>
          <a:p>
            <a:pPr algn="l" indent="0" marL="0">
              <a:lnSpc>
                <a:spcPct val="112000"/>
              </a:lnSpc>
              <a:buNone/>
            </a:pPr>
            <a:r>
              <a:rPr lang="en-US" sz="700" b="1" dirty="0">
                <a:solidFill>
                  <a:srgbClr val="10B981"/>
                </a:solidFill>
                <a:latin typeface="Inter Bold" pitchFamily="34" charset="0"/>
                <a:ea typeface="Inter Bold" pitchFamily="34" charset="-122"/>
                <a:cs typeface="Inter Bold" pitchFamily="34" charset="-120"/>
              </a:rPr>
              <a:t>PROCESS / EFFICIENCY</a:t>
            </a:r>
            <a:endParaRPr lang="en-US" sz="700" dirty="0"/>
          </a:p>
        </p:txBody>
      </p:sp>
      <p:sp>
        <p:nvSpPr>
          <p:cNvPr id="25" name="Text 22"/>
          <p:cNvSpPr/>
          <p:nvPr/>
        </p:nvSpPr>
        <p:spPr>
          <a:xfrm>
            <a:off x="1000125" y="3713634"/>
            <a:ext cx="7129463"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"Which manual process in our current workflow frustrates you the most, and what is the one thing preventing us from</a:t>
            </a:r>
            <a:endParaRPr lang="en-US" sz="950" dirty="0"/>
          </a:p>
        </p:txBody>
      </p:sp>
      <p:sp>
        <p:nvSpPr>
          <p:cNvPr id="26" name="Text 23"/>
          <p:cNvSpPr/>
          <p:nvPr/>
        </p:nvSpPr>
        <p:spPr>
          <a:xfrm>
            <a:off x="1000125" y="3893651"/>
            <a:ext cx="1287661"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automating it today?"</a:t>
            </a:r>
            <a:endParaRPr lang="en-US" sz="950" dirty="0"/>
          </a:p>
        </p:txBody>
      </p:sp>
      <p:sp>
        <p:nvSpPr>
          <p:cNvPr id="27" name="Shape 24"/>
          <p:cNvSpPr/>
          <p:nvPr/>
        </p:nvSpPr>
        <p:spPr>
          <a:xfrm>
            <a:off x="428625" y="4205827"/>
            <a:ext cx="8286750" cy="692916"/>
          </a:xfrm>
          <a:prstGeom prst="rect">
            <a:avLst/>
          </a:prstGeom>
          <a:solidFill>
            <a:srgbClr val="FFFFFF"/>
          </a:solidFill>
          <a:ln w="9144">
            <a:solidFill>
              <a:srgbClr val="E2E8F0"/>
            </a:solidFill>
            <a:prstDash val="solid"/>
          </a:ln>
        </p:spPr>
      </p:sp>
      <p:sp>
        <p:nvSpPr>
          <p:cNvPr id="28" name="Shape 25"/>
          <p:cNvSpPr/>
          <p:nvPr/>
        </p:nvSpPr>
        <p:spPr>
          <a:xfrm>
            <a:off x="571500" y="4348702"/>
            <a:ext cx="285750" cy="285750"/>
          </a:xfrm>
          <a:prstGeom prst="rect">
            <a:avLst/>
          </a:prstGeom>
          <a:solidFill>
            <a:srgbClr val="2563EB"/>
          </a:solidFill>
          <a:ln/>
        </p:spPr>
      </p:sp>
      <p:sp>
        <p:nvSpPr>
          <p:cNvPr id="29" name="Text 26"/>
          <p:cNvSpPr/>
          <p:nvPr/>
        </p:nvSpPr>
        <p:spPr>
          <a:xfrm>
            <a:off x="571500" y="4348702"/>
            <a:ext cx="285750" cy="285750"/>
          </a:xfrm>
          <a:prstGeom prst="rect">
            <a:avLst/>
          </a:prstGeom>
          <a:noFill/>
          <a:ln/>
        </p:spPr>
        <p:txBody>
          <a:bodyPr wrap="none" lIns="0" tIns="0" rIns="0" bIns="0" rtlCol="0" anchor="ctr">
            <a:spAutoFit/>
          </a:bodyPr>
          <a:lstStyle/>
          <a:p>
            <a:pPr algn="ctr" indent="0" marL="0">
              <a:buNone/>
            </a:pPr>
            <a:r>
              <a:rPr lang="en-US" sz="1000" b="1" dirty="0">
                <a:solidFill>
                  <a:srgbClr val="FFFFFF"/>
                </a:solidFill>
                <a:latin typeface="Inter Bold" pitchFamily="34" charset="0"/>
                <a:ea typeface="Inter Bold" pitchFamily="34" charset="-122"/>
                <a:cs typeface="Inter Bold" pitchFamily="34" charset="-120"/>
              </a:rPr>
              <a:t>5</a:t>
            </a:r>
            <a:endParaRPr lang="en-US" sz="1000" dirty="0"/>
          </a:p>
        </p:txBody>
      </p:sp>
      <p:sp>
        <p:nvSpPr>
          <p:cNvPr id="30" name="Text 27"/>
          <p:cNvSpPr/>
          <p:nvPr/>
        </p:nvSpPr>
        <p:spPr>
          <a:xfrm>
            <a:off x="1000125" y="4348702"/>
            <a:ext cx="7572375" cy="140001"/>
          </a:xfrm>
          <a:prstGeom prst="rect">
            <a:avLst/>
          </a:prstGeom>
          <a:noFill/>
          <a:ln/>
        </p:spPr>
        <p:txBody>
          <a:bodyPr wrap="none" lIns="0" tIns="0" rIns="0" bIns="0" rtlCol="0" anchor="t">
            <a:spAutoFit/>
          </a:bodyPr>
          <a:lstStyle/>
          <a:p>
            <a:pPr algn="l" indent="0" marL="0">
              <a:lnSpc>
                <a:spcPct val="112000"/>
              </a:lnSpc>
              <a:buNone/>
            </a:pPr>
            <a:r>
              <a:rPr lang="en-US" sz="700" b="1" dirty="0">
                <a:solidFill>
                  <a:srgbClr val="10B981"/>
                </a:solidFill>
                <a:latin typeface="Inter Bold" pitchFamily="34" charset="0"/>
                <a:ea typeface="Inter Bold" pitchFamily="34" charset="-122"/>
                <a:cs typeface="Inter Bold" pitchFamily="34" charset="-120"/>
              </a:rPr>
              <a:t>MANAGEMENT / OPERATIONS</a:t>
            </a:r>
            <a:endParaRPr lang="en-US" sz="700" dirty="0"/>
          </a:p>
        </p:txBody>
      </p:sp>
      <p:sp>
        <p:nvSpPr>
          <p:cNvPr id="31" name="Text 28"/>
          <p:cNvSpPr/>
          <p:nvPr/>
        </p:nvSpPr>
        <p:spPr>
          <a:xfrm>
            <a:off x="1000125" y="4535137"/>
            <a:ext cx="6924080"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"If a new senior developer joined the team tomorrow, how long would it take them to push their first line of code to</a:t>
            </a:r>
            <a:endParaRPr lang="en-US" sz="950" dirty="0"/>
          </a:p>
        </p:txBody>
      </p:sp>
      <p:sp>
        <p:nvSpPr>
          <p:cNvPr id="32" name="Text 29"/>
          <p:cNvSpPr/>
          <p:nvPr/>
        </p:nvSpPr>
        <p:spPr>
          <a:xfrm>
            <a:off x="1000125" y="4715154"/>
            <a:ext cx="1180505" cy="155377"/>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334155"/>
                </a:solidFill>
                <a:latin typeface="Inter" pitchFamily="34" charset="0"/>
                <a:ea typeface="Inter" pitchFamily="34" charset="-122"/>
                <a:cs typeface="Inter" pitchFamily="34" charset="-120"/>
              </a:rPr>
              <a:t>production safely?"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705445"/>
          </a:xfrm>
          <a:prstGeom prst="rect">
            <a:avLst/>
          </a:prstGeom>
          <a:solidFill>
            <a:srgbClr val="0F172A"/>
          </a:solidFill>
          <a:ln/>
        </p:spPr>
      </p:sp>
      <p:sp>
        <p:nvSpPr>
          <p:cNvPr id="4" name="Text 1"/>
          <p:cNvSpPr/>
          <p:nvPr/>
        </p:nvSpPr>
        <p:spPr>
          <a:xfrm>
            <a:off x="428625" y="285750"/>
            <a:ext cx="8715375" cy="276820"/>
          </a:xfrm>
          <a:prstGeom prst="rect">
            <a:avLst/>
          </a:prstGeom>
          <a:noFill/>
          <a:ln/>
        </p:spPr>
        <p:txBody>
          <a:bodyPr wrap="square" lIns="0" tIns="0" rIns="0" bIns="0" rtlCol="0" anchor="t">
            <a:spAutoFit/>
          </a:bodyPr>
          <a:lstStyle/>
          <a:p>
            <a:pPr algn="l" indent="0" marL="0">
              <a:buNone/>
            </a:pPr>
            <a:r>
              <a:rPr lang="en-US" sz="1600" b="1" dirty="0">
                <a:solidFill>
                  <a:srgbClr val="F8FAFC"/>
                </a:solidFill>
                <a:latin typeface="Inter Bold" pitchFamily="34" charset="0"/>
                <a:ea typeface="Inter Bold" pitchFamily="34" charset="-122"/>
                <a:cs typeface="Inter Bold" pitchFamily="34" charset="-120"/>
              </a:rPr>
              <a:t>Conclusion &amp; Key Takeaways</a:t>
            </a:r>
            <a:endParaRPr lang="en-US" sz="1600" dirty="0"/>
          </a:p>
        </p:txBody>
      </p:sp>
      <p:sp>
        <p:nvSpPr>
          <p:cNvPr id="5" name="Text 2"/>
          <p:cNvSpPr/>
          <p:nvPr/>
        </p:nvSpPr>
        <p:spPr>
          <a:xfrm>
            <a:off x="428625" y="1134070"/>
            <a:ext cx="3305603" cy="6858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334155"/>
                </a:solidFill>
                <a:latin typeface="Inter" pitchFamily="34" charset="0"/>
                <a:ea typeface="Inter" pitchFamily="34" charset="-122"/>
                <a:cs typeface="Inter" pitchFamily="34" charset="-120"/>
              </a:rPr>
              <a:t>Project success is a </a:t>
            </a:r>
            <a:r>
              <a:rPr lang="en-US" sz="1000" b="1" dirty="0">
                <a:solidFill>
                  <a:srgbClr val="2563EB"/>
                </a:solidFill>
                <a:latin typeface="Inter Bold" pitchFamily="34" charset="0"/>
                <a:ea typeface="Inter Bold" pitchFamily="34" charset="-122"/>
                <a:cs typeface="Inter Bold" pitchFamily="34" charset="-120"/>
              </a:rPr>
              <a:t>team sport</a:t>
            </a:r>
            <a:r>
              <a:rPr lang="en-US" sz="1050" dirty="0">
                <a:solidFill>
                  <a:srgbClr val="334155"/>
                </a:solidFill>
                <a:latin typeface="Inter" pitchFamily="34" charset="0"/>
                <a:ea typeface="Inter" pitchFamily="34" charset="-122"/>
                <a:cs typeface="Inter" pitchFamily="34" charset="-120"/>
              </a:rPr>
              <a:t> that requires the </a:t>
            </a:r>
            <a:r>
              <a:rPr lang="en-US" sz="1050" dirty="0">
                <a:solidFill>
                  <a:srgbClr val="334155"/>
                </a:solidFill>
                <a:latin typeface="Inter" pitchFamily="34" charset="0"/>
                <a:ea typeface="Inter" pitchFamily="34" charset="-122"/>
                <a:cs typeface="Inter" pitchFamily="34" charset="-120"/>
              </a:rPr>
              <a:t>deliberate synergy of Business Analysts, </a:t>
            </a:r>
            <a:r>
              <a:rPr lang="en-US" sz="1050" dirty="0">
                <a:solidFill>
                  <a:srgbClr val="334155"/>
                </a:solidFill>
                <a:latin typeface="Inter" pitchFamily="34" charset="0"/>
                <a:ea typeface="Inter" pitchFamily="34" charset="-122"/>
                <a:cs typeface="Inter" pitchFamily="34" charset="-120"/>
              </a:rPr>
              <a:t>Developers, and Testers.</a:t>
            </a:r>
            <a:endParaRPr lang="en-US" sz="1050" dirty="0"/>
          </a:p>
        </p:txBody>
      </p:sp>
      <p:sp>
        <p:nvSpPr>
          <p:cNvPr id="6" name="Text 3"/>
          <p:cNvSpPr/>
          <p:nvPr/>
        </p:nvSpPr>
        <p:spPr>
          <a:xfrm>
            <a:off x="428625" y="1819870"/>
            <a:ext cx="3305603" cy="1057275"/>
          </a:xfrm>
          <a:prstGeom prst="rect">
            <a:avLst/>
          </a:prstGeom>
          <a:noFill/>
          <a:ln/>
        </p:spPr>
        <p:txBody>
          <a:bodyPr wrap="square" lIns="0" tIns="170053" rIns="0" bIns="0" rtlCol="0" anchor="t">
            <a:spAutoFit/>
          </a:bodyPr>
          <a:lstStyle/>
          <a:p>
            <a:pPr algn="l" indent="0" marL="0">
              <a:lnSpc>
                <a:spcPct val="128000"/>
              </a:lnSpc>
              <a:buNone/>
            </a:pPr>
            <a:r>
              <a:rPr lang="en-US" sz="1050" dirty="0">
                <a:solidFill>
                  <a:srgbClr val="334155"/>
                </a:solidFill>
                <a:latin typeface="Inter" pitchFamily="34" charset="0"/>
                <a:ea typeface="Inter" pitchFamily="34" charset="-122"/>
                <a:cs typeface="Inter" pitchFamily="34" charset="-120"/>
              </a:rPr>
              <a:t>By embracing automation, maintaining architectural discipline, and fostering a culture of continuous learning, we deliver systems that are not only efficient but truly effective.</a:t>
            </a:r>
            <a:endParaRPr lang="en-US" sz="1050" dirty="0"/>
          </a:p>
        </p:txBody>
      </p:sp>
      <p:sp>
        <p:nvSpPr>
          <p:cNvPr id="7" name="Text 4"/>
          <p:cNvSpPr/>
          <p:nvPr/>
        </p:nvSpPr>
        <p:spPr>
          <a:xfrm>
            <a:off x="428625" y="3305770"/>
            <a:ext cx="3305603" cy="777218"/>
          </a:xfrm>
          <a:prstGeom prst="rect">
            <a:avLst/>
          </a:prstGeom>
          <a:noFill/>
          <a:ln/>
        </p:spPr>
        <p:txBody>
          <a:bodyPr wrap="square" lIns="0" tIns="255143" rIns="0" bIns="0" rtlCol="0" anchor="t">
            <a:spAutoFit/>
          </a:bodyPr>
          <a:lstStyle/>
          <a:p>
            <a:pPr algn="ctr" indent="0" marL="0">
              <a:lnSpc>
                <a:spcPct val="128000"/>
              </a:lnSpc>
              <a:buNone/>
            </a:pPr>
            <a:r>
              <a:rPr lang="en-US" sz="1200" b="1" dirty="0">
                <a:solidFill>
                  <a:srgbClr val="0F172A"/>
                </a:solidFill>
                <a:latin typeface="Inter Bold" pitchFamily="34" charset="0"/>
                <a:ea typeface="Inter Bold" pitchFamily="34" charset="-122"/>
                <a:cs typeface="Inter Bold" pitchFamily="34" charset="-120"/>
              </a:rPr>
              <a:t>Engineering Excellence is a Journey, Not a Destination.</a:t>
            </a:r>
            <a:endParaRPr lang="en-US" sz="1200" dirty="0"/>
          </a:p>
        </p:txBody>
      </p:sp>
      <p:sp>
        <p:nvSpPr>
          <p:cNvPr id="8" name="Shape 5"/>
          <p:cNvSpPr/>
          <p:nvPr/>
        </p:nvSpPr>
        <p:spPr>
          <a:xfrm>
            <a:off x="4162853" y="1134070"/>
            <a:ext cx="4552522" cy="3123605"/>
          </a:xfrm>
          <a:prstGeom prst="rect">
            <a:avLst/>
          </a:prstGeom>
          <a:solidFill>
            <a:srgbClr val="FFFFFF"/>
          </a:solidFill>
          <a:ln w="9144">
            <a:solidFill>
              <a:srgbClr val="E2E8F0"/>
            </a:solidFill>
            <a:prstDash val="solid"/>
          </a:ln>
        </p:spPr>
      </p:sp>
      <p:sp>
        <p:nvSpPr>
          <p:cNvPr id="9" name="Text 6"/>
          <p:cNvSpPr/>
          <p:nvPr/>
        </p:nvSpPr>
        <p:spPr>
          <a:xfrm>
            <a:off x="4455105" y="1419820"/>
            <a:ext cx="3974520" cy="189309"/>
          </a:xfrm>
          <a:prstGeom prst="rect">
            <a:avLst/>
          </a:prstGeom>
          <a:noFill/>
          <a:ln/>
        </p:spPr>
        <p:txBody>
          <a:bodyPr wrap="square" lIns="0" tIns="0" rIns="0" bIns="0" rtlCol="0" anchor="t">
            <a:spAutoFit/>
          </a:bodyPr>
          <a:lstStyle/>
          <a:p>
            <a:pPr algn="l" indent="0" marL="0">
              <a:buNone/>
            </a:pPr>
            <a:r>
              <a:rPr lang="en-US" sz="1100" b="1" dirty="0">
                <a:solidFill>
                  <a:srgbClr val="2563EB"/>
                </a:solidFill>
                <a:latin typeface="Inter Bold" pitchFamily="34" charset="0"/>
                <a:ea typeface="Inter Bold" pitchFamily="34" charset="-122"/>
                <a:cs typeface="Inter Bold" pitchFamily="34" charset="-120"/>
              </a:rPr>
              <a:t>Your Next Steps:</a:t>
            </a:r>
            <a:endParaRPr lang="en-US" sz="1100" dirty="0"/>
          </a:p>
        </p:txBody>
      </p:sp>
      <p:pic>
        <p:nvPicPr>
          <p:cNvPr id="10" name="Image 1" descr="preencoded.png">    </p:cNvPr>
          <p:cNvPicPr>
            <a:picLocks noChangeAspect="1"/>
          </p:cNvPicPr>
          <p:nvPr/>
        </p:nvPicPr>
        <p:blipFill>
          <a:blip r:embed="rId2"/>
          <a:stretch>
            <a:fillRect/>
          </a:stretch>
        </p:blipFill>
        <p:spPr>
          <a:xfrm>
            <a:off x="4455105" y="1866305"/>
            <a:ext cx="142875" cy="142875"/>
          </a:xfrm>
          <a:prstGeom prst="rect">
            <a:avLst/>
          </a:prstGeom>
        </p:spPr>
      </p:pic>
      <p:sp>
        <p:nvSpPr>
          <p:cNvPr id="11" name="Text 7"/>
          <p:cNvSpPr/>
          <p:nvPr/>
        </p:nvSpPr>
        <p:spPr>
          <a:xfrm>
            <a:off x="4705136" y="1823442"/>
            <a:ext cx="3191470"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Audit Your Definition of Done</a:t>
            </a:r>
            <a:endParaRPr lang="en-US" sz="900" dirty="0"/>
          </a:p>
        </p:txBody>
      </p:sp>
      <p:sp>
        <p:nvSpPr>
          <p:cNvPr id="12" name="Text 8"/>
          <p:cNvSpPr/>
          <p:nvPr/>
        </p:nvSpPr>
        <p:spPr>
          <a:xfrm>
            <a:off x="4705136" y="2007394"/>
            <a:ext cx="3191470" cy="121444"/>
          </a:xfrm>
          <a:prstGeom prst="rect">
            <a:avLst/>
          </a:prstGeom>
          <a:noFill/>
          <a:ln/>
        </p:spPr>
        <p:txBody>
          <a:bodyPr wrap="squar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Ensure it is clear, measurable, and agreed upon by all stakeholders.</a:t>
            </a:r>
            <a:endParaRPr lang="en-US" sz="750" dirty="0"/>
          </a:p>
        </p:txBody>
      </p:sp>
      <p:pic>
        <p:nvPicPr>
          <p:cNvPr id="13" name="Image 2" descr="preencoded.png">    </p:cNvPr>
          <p:cNvPicPr>
            <a:picLocks noChangeAspect="1"/>
          </p:cNvPicPr>
          <p:nvPr/>
        </p:nvPicPr>
        <p:blipFill>
          <a:blip r:embed="rId3"/>
          <a:stretch>
            <a:fillRect/>
          </a:stretch>
        </p:blipFill>
        <p:spPr>
          <a:xfrm>
            <a:off x="4455105" y="2350294"/>
            <a:ext cx="107156" cy="142875"/>
          </a:xfrm>
          <a:prstGeom prst="rect">
            <a:avLst/>
          </a:prstGeom>
        </p:spPr>
      </p:pic>
      <p:sp>
        <p:nvSpPr>
          <p:cNvPr id="14" name="Text 9"/>
          <p:cNvSpPr/>
          <p:nvPr/>
        </p:nvSpPr>
        <p:spPr>
          <a:xfrm>
            <a:off x="4669417" y="2307431"/>
            <a:ext cx="2702123"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Automate One Manual Task</a:t>
            </a:r>
            <a:endParaRPr lang="en-US" sz="900" dirty="0"/>
          </a:p>
        </p:txBody>
      </p:sp>
      <p:sp>
        <p:nvSpPr>
          <p:cNvPr id="15" name="Text 10"/>
          <p:cNvSpPr/>
          <p:nvPr/>
        </p:nvSpPr>
        <p:spPr>
          <a:xfrm>
            <a:off x="4669417" y="2491383"/>
            <a:ext cx="2702123" cy="121444"/>
          </a:xfrm>
          <a:prstGeom prst="rect">
            <a:avLst/>
          </a:prstGeom>
          <a:noFill/>
          <a:ln/>
        </p:spPr>
        <p:txBody>
          <a:bodyPr wrap="squar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Identify a repetitive bottleneck this week and automate it.</a:t>
            </a:r>
            <a:endParaRPr lang="en-US" sz="750" dirty="0"/>
          </a:p>
        </p:txBody>
      </p:sp>
      <p:pic>
        <p:nvPicPr>
          <p:cNvPr id="16" name="Image 3" descr="preencoded.png">    </p:cNvPr>
          <p:cNvPicPr>
            <a:picLocks noChangeAspect="1"/>
          </p:cNvPicPr>
          <p:nvPr/>
        </p:nvPicPr>
        <p:blipFill>
          <a:blip r:embed="rId4"/>
          <a:stretch>
            <a:fillRect/>
          </a:stretch>
        </p:blipFill>
        <p:spPr>
          <a:xfrm>
            <a:off x="4455105" y="2834283"/>
            <a:ext cx="142875" cy="142875"/>
          </a:xfrm>
          <a:prstGeom prst="rect">
            <a:avLst/>
          </a:prstGeom>
        </p:spPr>
      </p:pic>
      <p:sp>
        <p:nvSpPr>
          <p:cNvPr id="17" name="Text 11"/>
          <p:cNvSpPr/>
          <p:nvPr/>
        </p:nvSpPr>
        <p:spPr>
          <a:xfrm>
            <a:off x="4705136" y="2791420"/>
            <a:ext cx="3186113"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Prioritize "Why" over "What"</a:t>
            </a:r>
            <a:endParaRPr lang="en-US" sz="900" dirty="0"/>
          </a:p>
        </p:txBody>
      </p:sp>
      <p:sp>
        <p:nvSpPr>
          <p:cNvPr id="18" name="Text 12"/>
          <p:cNvSpPr/>
          <p:nvPr/>
        </p:nvSpPr>
        <p:spPr>
          <a:xfrm>
            <a:off x="4705136" y="2975372"/>
            <a:ext cx="3186113" cy="121444"/>
          </a:xfrm>
          <a:prstGeom prst="rect">
            <a:avLst/>
          </a:prstGeom>
          <a:noFill/>
          <a:ln/>
        </p:spPr>
        <p:txBody>
          <a:bodyPr wrap="squar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Always validate the business value before starting any new feature.</a:t>
            </a:r>
            <a:endParaRPr lang="en-US" sz="750" dirty="0"/>
          </a:p>
        </p:txBody>
      </p:sp>
      <p:pic>
        <p:nvPicPr>
          <p:cNvPr id="19" name="Image 4" descr="preencoded.png">    </p:cNvPr>
          <p:cNvPicPr>
            <a:picLocks noChangeAspect="1"/>
          </p:cNvPicPr>
          <p:nvPr/>
        </p:nvPicPr>
        <p:blipFill>
          <a:blip r:embed="rId5"/>
          <a:stretch>
            <a:fillRect/>
          </a:stretch>
        </p:blipFill>
        <p:spPr>
          <a:xfrm>
            <a:off x="4455105" y="3318272"/>
            <a:ext cx="178594" cy="142875"/>
          </a:xfrm>
          <a:prstGeom prst="rect">
            <a:avLst/>
          </a:prstGeom>
        </p:spPr>
      </p:pic>
      <p:sp>
        <p:nvSpPr>
          <p:cNvPr id="20" name="Text 13"/>
          <p:cNvSpPr/>
          <p:nvPr/>
        </p:nvSpPr>
        <p:spPr>
          <a:xfrm>
            <a:off x="4740855" y="3275409"/>
            <a:ext cx="3045023"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Embrace Blameless Post-Mortems</a:t>
            </a:r>
            <a:endParaRPr lang="en-US" sz="900" dirty="0"/>
          </a:p>
        </p:txBody>
      </p:sp>
      <p:sp>
        <p:nvSpPr>
          <p:cNvPr id="21" name="Text 14"/>
          <p:cNvSpPr/>
          <p:nvPr/>
        </p:nvSpPr>
        <p:spPr>
          <a:xfrm>
            <a:off x="4740855" y="3459361"/>
            <a:ext cx="3045023" cy="121444"/>
          </a:xfrm>
          <a:prstGeom prst="rect">
            <a:avLst/>
          </a:prstGeom>
          <a:noFill/>
          <a:ln/>
        </p:spPr>
        <p:txBody>
          <a:bodyPr wrap="squar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Treat every failure as a critical learning opportunity for the team.</a:t>
            </a:r>
            <a:endParaRPr lang="en-US" sz="750" dirty="0"/>
          </a:p>
        </p:txBody>
      </p:sp>
      <p:pic>
        <p:nvPicPr>
          <p:cNvPr id="22" name="Image 5" descr="preencoded.png">    </p:cNvPr>
          <p:cNvPicPr>
            <a:picLocks noChangeAspect="1"/>
          </p:cNvPicPr>
          <p:nvPr/>
        </p:nvPicPr>
        <p:blipFill>
          <a:blip r:embed="rId6"/>
          <a:stretch>
            <a:fillRect/>
          </a:stretch>
        </p:blipFill>
        <p:spPr>
          <a:xfrm>
            <a:off x="4455105" y="3802261"/>
            <a:ext cx="160734" cy="142875"/>
          </a:xfrm>
          <a:prstGeom prst="rect">
            <a:avLst/>
          </a:prstGeom>
        </p:spPr>
      </p:pic>
      <p:sp>
        <p:nvSpPr>
          <p:cNvPr id="23" name="Text 15"/>
          <p:cNvSpPr/>
          <p:nvPr/>
        </p:nvSpPr>
        <p:spPr>
          <a:xfrm>
            <a:off x="4722995" y="3759398"/>
            <a:ext cx="3475434"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Invest in Observability</a:t>
            </a:r>
            <a:endParaRPr lang="en-US" sz="900" dirty="0"/>
          </a:p>
        </p:txBody>
      </p:sp>
      <p:sp>
        <p:nvSpPr>
          <p:cNvPr id="24" name="Text 16"/>
          <p:cNvSpPr/>
          <p:nvPr/>
        </p:nvSpPr>
        <p:spPr>
          <a:xfrm>
            <a:off x="4722995" y="3943350"/>
            <a:ext cx="3475434" cy="121444"/>
          </a:xfrm>
          <a:prstGeom prst="rect">
            <a:avLst/>
          </a:prstGeom>
          <a:noFill/>
          <a:ln/>
        </p:spPr>
        <p:txBody>
          <a:bodyPr wrap="squar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Gain deep insights into production systems to address issues proactively.</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2026-05-13T05:44:51Z</dcterms:created>
  <dcterms:modified xsi:type="dcterms:W3CDTF">2026-05-13T05:44:51Z</dcterms:modified>
</cp:coreProperties>
</file>